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IBM Plex Sans" panose="020B0503050203000203"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be6f418c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 name="Google Shape;73;g3be6f418c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be6f418c07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be6f418c07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be6f418c07_0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g3be6f418c07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e6f418c07_0_2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g3be6f418c07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e6f418c07_0_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be6f418c07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be6f418c07_0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g3be6f418c07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be6f418c07_0_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g3be6f418c07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e6f418c07_0_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be6f418c07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be6f418c07_0_2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3be6f418c07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e6f418c07_0_3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g3be6f418c07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e6f418c07_0_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g3be6f418c07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a:spLocks noGrp="1"/>
          </p:cNvSpPr>
          <p:nvPr>
            <p:ph type="pic" idx="2"/>
          </p:nvPr>
        </p:nvSpPr>
        <p:spPr>
          <a:xfrm>
            <a:off x="3887391" y="740569"/>
            <a:ext cx="4629300" cy="3655200"/>
          </a:xfrm>
          <a:prstGeom prst="rect">
            <a:avLst/>
          </a:prstGeom>
          <a:noFill/>
          <a:ln>
            <a:noFill/>
          </a:ln>
        </p:spPr>
      </p:sp>
      <p:sp>
        <p:nvSpPr>
          <p:cNvPr id="53" name="Google Shape;53;p13"/>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4" name="Google Shape;54;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5" name="Google Shape;55;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6" name="Google Shape;56;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chemeClr val="lt1"/>
        </a:solidFill>
        <a:effectLst/>
      </p:bgPr>
    </p:bg>
    <p:spTree>
      <p:nvGrpSpPr>
        <p:cNvPr id="1" name="Shape 57"/>
        <p:cNvGrpSpPr/>
        <p:nvPr/>
      </p:nvGrpSpPr>
      <p:grpSpPr>
        <a:xfrm>
          <a:off x="0" y="0"/>
          <a:ext cx="0" cy="0"/>
          <a:chOff x="0" y="0"/>
          <a:chExt cx="0" cy="0"/>
        </a:xfrm>
      </p:grpSpPr>
      <p:sp>
        <p:nvSpPr>
          <p:cNvPr id="58" name="Google Shape;58;p14"/>
          <p:cNvSpPr/>
          <p:nvPr/>
        </p:nvSpPr>
        <p:spPr>
          <a:xfrm>
            <a:off x="0" y="3"/>
            <a:ext cx="3014663" cy="5143500"/>
          </a:xfrm>
          <a:custGeom>
            <a:avLst/>
            <a:gdLst/>
            <a:ahLst/>
            <a:cxnLst/>
            <a:rect l="l" t="t" r="r" b="b"/>
            <a:pathLst>
              <a:path w="6029325" h="10287000" extrusionOk="0">
                <a:moveTo>
                  <a:pt x="5561871" y="10286986"/>
                </a:moveTo>
                <a:lnTo>
                  <a:pt x="467452" y="10286986"/>
                </a:lnTo>
                <a:lnTo>
                  <a:pt x="419513" y="10284582"/>
                </a:lnTo>
                <a:lnTo>
                  <a:pt x="372992" y="10277527"/>
                </a:lnTo>
                <a:lnTo>
                  <a:pt x="328120" y="10266051"/>
                </a:lnTo>
                <a:lnTo>
                  <a:pt x="285127" y="10250385"/>
                </a:lnTo>
                <a:lnTo>
                  <a:pt x="244247" y="10230760"/>
                </a:lnTo>
                <a:lnTo>
                  <a:pt x="205708" y="10207407"/>
                </a:lnTo>
                <a:lnTo>
                  <a:pt x="169744" y="10180558"/>
                </a:lnTo>
                <a:lnTo>
                  <a:pt x="136583" y="10150442"/>
                </a:lnTo>
                <a:lnTo>
                  <a:pt x="106459" y="10117291"/>
                </a:lnTo>
                <a:lnTo>
                  <a:pt x="79601" y="10081337"/>
                </a:lnTo>
                <a:lnTo>
                  <a:pt x="56241" y="10042810"/>
                </a:lnTo>
                <a:lnTo>
                  <a:pt x="36611" y="10001942"/>
                </a:lnTo>
                <a:lnTo>
                  <a:pt x="20940" y="9958962"/>
                </a:lnTo>
                <a:lnTo>
                  <a:pt x="9460" y="9914103"/>
                </a:lnTo>
                <a:lnTo>
                  <a:pt x="2403" y="9867596"/>
                </a:lnTo>
                <a:lnTo>
                  <a:pt x="0" y="9819671"/>
                </a:lnTo>
                <a:lnTo>
                  <a:pt x="0" y="467314"/>
                </a:lnTo>
                <a:lnTo>
                  <a:pt x="2403" y="419389"/>
                </a:lnTo>
                <a:lnTo>
                  <a:pt x="9460" y="372881"/>
                </a:lnTo>
                <a:lnTo>
                  <a:pt x="20940" y="328022"/>
                </a:lnTo>
                <a:lnTo>
                  <a:pt x="36611" y="285043"/>
                </a:lnTo>
                <a:lnTo>
                  <a:pt x="56241" y="244174"/>
                </a:lnTo>
                <a:lnTo>
                  <a:pt x="79601" y="205647"/>
                </a:lnTo>
                <a:lnTo>
                  <a:pt x="106459" y="169693"/>
                </a:lnTo>
                <a:lnTo>
                  <a:pt x="136583" y="136543"/>
                </a:lnTo>
                <a:lnTo>
                  <a:pt x="169744" y="106427"/>
                </a:lnTo>
                <a:lnTo>
                  <a:pt x="205708" y="79578"/>
                </a:lnTo>
                <a:lnTo>
                  <a:pt x="244247" y="56225"/>
                </a:lnTo>
                <a:lnTo>
                  <a:pt x="285127" y="36600"/>
                </a:lnTo>
                <a:lnTo>
                  <a:pt x="328120" y="20934"/>
                </a:lnTo>
                <a:lnTo>
                  <a:pt x="372992" y="9458"/>
                </a:lnTo>
                <a:lnTo>
                  <a:pt x="419513" y="2403"/>
                </a:lnTo>
                <a:lnTo>
                  <a:pt x="467452" y="0"/>
                </a:lnTo>
                <a:lnTo>
                  <a:pt x="5561871" y="0"/>
                </a:lnTo>
                <a:lnTo>
                  <a:pt x="5609811" y="2403"/>
                </a:lnTo>
                <a:lnTo>
                  <a:pt x="5656332" y="9458"/>
                </a:lnTo>
                <a:lnTo>
                  <a:pt x="5701204" y="20934"/>
                </a:lnTo>
                <a:lnTo>
                  <a:pt x="5744196" y="36600"/>
                </a:lnTo>
                <a:lnTo>
                  <a:pt x="5785077" y="56225"/>
                </a:lnTo>
                <a:lnTo>
                  <a:pt x="5823615" y="79578"/>
                </a:lnTo>
                <a:lnTo>
                  <a:pt x="5859580" y="106427"/>
                </a:lnTo>
                <a:lnTo>
                  <a:pt x="5892740" y="136543"/>
                </a:lnTo>
                <a:lnTo>
                  <a:pt x="5922865" y="169693"/>
                </a:lnTo>
                <a:lnTo>
                  <a:pt x="5949722" y="205647"/>
                </a:lnTo>
                <a:lnTo>
                  <a:pt x="5973082" y="244174"/>
                </a:lnTo>
                <a:lnTo>
                  <a:pt x="5992713" y="285043"/>
                </a:lnTo>
                <a:lnTo>
                  <a:pt x="6008384" y="328022"/>
                </a:lnTo>
                <a:lnTo>
                  <a:pt x="6019863" y="372881"/>
                </a:lnTo>
                <a:lnTo>
                  <a:pt x="6026920" y="419389"/>
                </a:lnTo>
                <a:lnTo>
                  <a:pt x="6029324" y="467314"/>
                </a:lnTo>
                <a:lnTo>
                  <a:pt x="6029324" y="9819671"/>
                </a:lnTo>
                <a:lnTo>
                  <a:pt x="6026920" y="9867596"/>
                </a:lnTo>
                <a:lnTo>
                  <a:pt x="6019863" y="9914103"/>
                </a:lnTo>
                <a:lnTo>
                  <a:pt x="6008384" y="9958962"/>
                </a:lnTo>
                <a:lnTo>
                  <a:pt x="5992713" y="10001942"/>
                </a:lnTo>
                <a:lnTo>
                  <a:pt x="5973082" y="10042810"/>
                </a:lnTo>
                <a:lnTo>
                  <a:pt x="5949722" y="10081337"/>
                </a:lnTo>
                <a:lnTo>
                  <a:pt x="5922865" y="10117291"/>
                </a:lnTo>
                <a:lnTo>
                  <a:pt x="5892740" y="10150442"/>
                </a:lnTo>
                <a:lnTo>
                  <a:pt x="5859580" y="10180558"/>
                </a:lnTo>
                <a:lnTo>
                  <a:pt x="5823615" y="10207407"/>
                </a:lnTo>
                <a:lnTo>
                  <a:pt x="5785077" y="10230760"/>
                </a:lnTo>
                <a:lnTo>
                  <a:pt x="5744196" y="10250385"/>
                </a:lnTo>
                <a:lnTo>
                  <a:pt x="5701204" y="10266051"/>
                </a:lnTo>
                <a:lnTo>
                  <a:pt x="5656332" y="10277527"/>
                </a:lnTo>
                <a:lnTo>
                  <a:pt x="5609811" y="10284582"/>
                </a:lnTo>
                <a:lnTo>
                  <a:pt x="5561871" y="10286986"/>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59" name="Google Shape;59;p14"/>
          <p:cNvSpPr txBox="1">
            <a:spLocks noGrp="1"/>
          </p:cNvSpPr>
          <p:nvPr>
            <p:ph type="title"/>
          </p:nvPr>
        </p:nvSpPr>
        <p:spPr>
          <a:xfrm>
            <a:off x="4511775" y="979674"/>
            <a:ext cx="3600600" cy="242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1500" b="0" i="0">
                <a:solidFill>
                  <a:srgbClr val="40404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4"/>
          <p:cNvSpPr txBox="1">
            <a:spLocks noGrp="1"/>
          </p:cNvSpPr>
          <p:nvPr>
            <p:ph type="body" idx="1"/>
          </p:nvPr>
        </p:nvSpPr>
        <p:spPr>
          <a:xfrm>
            <a:off x="182758" y="1018011"/>
            <a:ext cx="8778300" cy="15462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sz="1300" b="0" i="0">
                <a:solidFill>
                  <a:srgbClr val="404041"/>
                </a:solidFill>
                <a:latin typeface="Arial"/>
                <a:ea typeface="Arial"/>
                <a:cs typeface="Arial"/>
                <a:sym typeface="Arial"/>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61" name="Google Shape;61;p1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2" name="Google Shape;62;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3" name="Google Shape;63;p14"/>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4511775" y="979674"/>
            <a:ext cx="3600600" cy="242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1500" b="0" i="0">
                <a:solidFill>
                  <a:srgbClr val="40404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6" name="Google Shape;66;p15"/>
          <p:cNvSpPr txBox="1">
            <a:spLocks noGrp="1"/>
          </p:cNvSpPr>
          <p:nvPr>
            <p:ph type="body" idx="1"/>
          </p:nvPr>
        </p:nvSpPr>
        <p:spPr>
          <a:xfrm>
            <a:off x="457200" y="1183005"/>
            <a:ext cx="3977700" cy="3394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67" name="Google Shape;67;p15"/>
          <p:cNvSpPr txBox="1">
            <a:spLocks noGrp="1"/>
          </p:cNvSpPr>
          <p:nvPr>
            <p:ph type="body" idx="2"/>
          </p:nvPr>
        </p:nvSpPr>
        <p:spPr>
          <a:xfrm>
            <a:off x="4709160" y="1183005"/>
            <a:ext cx="3977700" cy="3394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1200"/>
              </a:spcBef>
              <a:spcAft>
                <a:spcPts val="0"/>
              </a:spcAft>
              <a:buSzPts val="1400"/>
              <a:buNone/>
              <a:defRPr/>
            </a:lvl2pPr>
            <a:lvl3pPr marL="1371600" lvl="2" indent="-228600" algn="l">
              <a:lnSpc>
                <a:spcPct val="115000"/>
              </a:lnSpc>
              <a:spcBef>
                <a:spcPts val="1200"/>
              </a:spcBef>
              <a:spcAft>
                <a:spcPts val="0"/>
              </a:spcAft>
              <a:buSzPts val="1400"/>
              <a:buNone/>
              <a:defRPr/>
            </a:lvl3pPr>
            <a:lvl4pPr marL="1828800" lvl="3" indent="-228600" algn="l">
              <a:lnSpc>
                <a:spcPct val="115000"/>
              </a:lnSpc>
              <a:spcBef>
                <a:spcPts val="1200"/>
              </a:spcBef>
              <a:spcAft>
                <a:spcPts val="0"/>
              </a:spcAft>
              <a:buSzPts val="1400"/>
              <a:buNone/>
              <a:defRPr/>
            </a:lvl4pPr>
            <a:lvl5pPr marL="2286000" lvl="4" indent="-228600" algn="l">
              <a:lnSpc>
                <a:spcPct val="115000"/>
              </a:lnSpc>
              <a:spcBef>
                <a:spcPts val="1200"/>
              </a:spcBef>
              <a:spcAft>
                <a:spcPts val="0"/>
              </a:spcAft>
              <a:buSzPts val="1400"/>
              <a:buNone/>
              <a:defRPr/>
            </a:lvl5pPr>
            <a:lvl6pPr marL="2743200" lvl="5" indent="-228600" algn="l">
              <a:lnSpc>
                <a:spcPct val="115000"/>
              </a:lnSpc>
              <a:spcBef>
                <a:spcPts val="1200"/>
              </a:spcBef>
              <a:spcAft>
                <a:spcPts val="0"/>
              </a:spcAft>
              <a:buSzPts val="1400"/>
              <a:buNone/>
              <a:defRPr/>
            </a:lvl6pPr>
            <a:lvl7pPr marL="3200400" lvl="6" indent="-228600" algn="l">
              <a:lnSpc>
                <a:spcPct val="115000"/>
              </a:lnSpc>
              <a:spcBef>
                <a:spcPts val="1200"/>
              </a:spcBef>
              <a:spcAft>
                <a:spcPts val="0"/>
              </a:spcAft>
              <a:buSzPts val="1400"/>
              <a:buNone/>
              <a:defRPr/>
            </a:lvl7pPr>
            <a:lvl8pPr marL="3657600" lvl="7" indent="-228600" algn="l">
              <a:lnSpc>
                <a:spcPct val="115000"/>
              </a:lnSpc>
              <a:spcBef>
                <a:spcPts val="1200"/>
              </a:spcBef>
              <a:spcAft>
                <a:spcPts val="0"/>
              </a:spcAft>
              <a:buSzPts val="1400"/>
              <a:buNone/>
              <a:defRPr/>
            </a:lvl8pPr>
            <a:lvl9pPr marL="4114800" lvl="8" indent="-228600" algn="l">
              <a:lnSpc>
                <a:spcPct val="115000"/>
              </a:lnSpc>
              <a:spcBef>
                <a:spcPts val="1200"/>
              </a:spcBef>
              <a:spcAft>
                <a:spcPts val="1200"/>
              </a:spcAft>
              <a:buSzPts val="1400"/>
              <a:buNone/>
              <a:defRPr/>
            </a:lvl9pPr>
          </a:lstStyle>
          <a:p>
            <a:endParaRPr/>
          </a:p>
        </p:txBody>
      </p:sp>
      <p:sp>
        <p:nvSpPr>
          <p:cNvPr id="68" name="Google Shape;68;p1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9" name="Google Shape;69;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400"/>
              <a:buFont typeface="Calibri"/>
              <a:buNone/>
            </a:pPr>
            <a:endParaRPr/>
          </a:p>
        </p:txBody>
      </p:sp>
      <p:sp>
        <p:nvSpPr>
          <p:cNvPr id="76" name="Google Shape;76;p16"/>
          <p:cNvSpPr/>
          <p:nvPr/>
        </p:nvSpPr>
        <p:spPr>
          <a:xfrm>
            <a:off x="0" y="0"/>
            <a:ext cx="9144000" cy="51435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21299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4143851" y="191929"/>
            <a:ext cx="4833938" cy="4575477"/>
          </a:xfrm>
          <a:custGeom>
            <a:avLst/>
            <a:gdLst/>
            <a:ahLst/>
            <a:cxnLst/>
            <a:rect l="l" t="t" r="r" b="b"/>
            <a:pathLst>
              <a:path w="9525000" h="9582150" extrusionOk="0">
                <a:moveTo>
                  <a:pt x="9010083" y="9582075"/>
                </a:moveTo>
                <a:lnTo>
                  <a:pt x="514915" y="9582075"/>
                </a:lnTo>
                <a:lnTo>
                  <a:pt x="467903" y="9579981"/>
                </a:lnTo>
                <a:lnTo>
                  <a:pt x="422103" y="9573815"/>
                </a:lnTo>
                <a:lnTo>
                  <a:pt x="377694" y="9563758"/>
                </a:lnTo>
                <a:lnTo>
                  <a:pt x="334854" y="9549988"/>
                </a:lnTo>
                <a:lnTo>
                  <a:pt x="293762" y="9532683"/>
                </a:lnTo>
                <a:lnTo>
                  <a:pt x="254597" y="9512022"/>
                </a:lnTo>
                <a:lnTo>
                  <a:pt x="217537" y="9488185"/>
                </a:lnTo>
                <a:lnTo>
                  <a:pt x="182763" y="9461349"/>
                </a:lnTo>
                <a:lnTo>
                  <a:pt x="150451" y="9431694"/>
                </a:lnTo>
                <a:lnTo>
                  <a:pt x="120782" y="9399397"/>
                </a:lnTo>
                <a:lnTo>
                  <a:pt x="93934" y="9364639"/>
                </a:lnTo>
                <a:lnTo>
                  <a:pt x="70085" y="9327597"/>
                </a:lnTo>
                <a:lnTo>
                  <a:pt x="49415" y="9288450"/>
                </a:lnTo>
                <a:lnTo>
                  <a:pt x="32102" y="9247377"/>
                </a:lnTo>
                <a:lnTo>
                  <a:pt x="18325" y="9204557"/>
                </a:lnTo>
                <a:lnTo>
                  <a:pt x="8264" y="9160168"/>
                </a:lnTo>
                <a:lnTo>
                  <a:pt x="2095" y="9114390"/>
                </a:lnTo>
                <a:lnTo>
                  <a:pt x="0" y="9067400"/>
                </a:lnTo>
                <a:lnTo>
                  <a:pt x="0" y="514675"/>
                </a:lnTo>
                <a:lnTo>
                  <a:pt x="2095" y="467685"/>
                </a:lnTo>
                <a:lnTo>
                  <a:pt x="8264" y="421907"/>
                </a:lnTo>
                <a:lnTo>
                  <a:pt x="18325" y="377518"/>
                </a:lnTo>
                <a:lnTo>
                  <a:pt x="32102" y="334698"/>
                </a:lnTo>
                <a:lnTo>
                  <a:pt x="49415" y="293625"/>
                </a:lnTo>
                <a:lnTo>
                  <a:pt x="70085" y="254478"/>
                </a:lnTo>
                <a:lnTo>
                  <a:pt x="93934" y="217436"/>
                </a:lnTo>
                <a:lnTo>
                  <a:pt x="120782" y="182678"/>
                </a:lnTo>
                <a:lnTo>
                  <a:pt x="150451" y="150381"/>
                </a:lnTo>
                <a:lnTo>
                  <a:pt x="182763" y="120726"/>
                </a:lnTo>
                <a:lnTo>
                  <a:pt x="217537" y="93890"/>
                </a:lnTo>
                <a:lnTo>
                  <a:pt x="254597" y="70053"/>
                </a:lnTo>
                <a:lnTo>
                  <a:pt x="293762" y="49392"/>
                </a:lnTo>
                <a:lnTo>
                  <a:pt x="334854" y="32087"/>
                </a:lnTo>
                <a:lnTo>
                  <a:pt x="377694" y="18317"/>
                </a:lnTo>
                <a:lnTo>
                  <a:pt x="422103" y="8260"/>
                </a:lnTo>
                <a:lnTo>
                  <a:pt x="467903" y="2094"/>
                </a:lnTo>
                <a:lnTo>
                  <a:pt x="514915" y="0"/>
                </a:lnTo>
                <a:lnTo>
                  <a:pt x="9010083" y="0"/>
                </a:lnTo>
                <a:lnTo>
                  <a:pt x="9057095" y="2094"/>
                </a:lnTo>
                <a:lnTo>
                  <a:pt x="9102895" y="8260"/>
                </a:lnTo>
                <a:lnTo>
                  <a:pt x="9147305" y="18317"/>
                </a:lnTo>
                <a:lnTo>
                  <a:pt x="9190145" y="32087"/>
                </a:lnTo>
                <a:lnTo>
                  <a:pt x="9231237" y="49392"/>
                </a:lnTo>
                <a:lnTo>
                  <a:pt x="9270402" y="70053"/>
                </a:lnTo>
                <a:lnTo>
                  <a:pt x="9307461" y="93890"/>
                </a:lnTo>
                <a:lnTo>
                  <a:pt x="9342236" y="120726"/>
                </a:lnTo>
                <a:lnTo>
                  <a:pt x="9374547" y="150381"/>
                </a:lnTo>
                <a:lnTo>
                  <a:pt x="9404216" y="182678"/>
                </a:lnTo>
                <a:lnTo>
                  <a:pt x="9431065" y="217436"/>
                </a:lnTo>
                <a:lnTo>
                  <a:pt x="9454913" y="254478"/>
                </a:lnTo>
                <a:lnTo>
                  <a:pt x="9475583" y="293625"/>
                </a:lnTo>
                <a:lnTo>
                  <a:pt x="9492896" y="334698"/>
                </a:lnTo>
                <a:lnTo>
                  <a:pt x="9506673" y="377518"/>
                </a:lnTo>
                <a:lnTo>
                  <a:pt x="9516735" y="421907"/>
                </a:lnTo>
                <a:lnTo>
                  <a:pt x="9522903" y="467685"/>
                </a:lnTo>
                <a:lnTo>
                  <a:pt x="9524999" y="514675"/>
                </a:lnTo>
                <a:lnTo>
                  <a:pt x="9524999" y="9067400"/>
                </a:lnTo>
                <a:lnTo>
                  <a:pt x="9522903" y="9114390"/>
                </a:lnTo>
                <a:lnTo>
                  <a:pt x="9516735" y="9160168"/>
                </a:lnTo>
                <a:lnTo>
                  <a:pt x="9506673" y="9204557"/>
                </a:lnTo>
                <a:lnTo>
                  <a:pt x="9492896" y="9247377"/>
                </a:lnTo>
                <a:lnTo>
                  <a:pt x="9475583" y="9288450"/>
                </a:lnTo>
                <a:lnTo>
                  <a:pt x="9454913" y="9327597"/>
                </a:lnTo>
                <a:lnTo>
                  <a:pt x="9431065" y="9364639"/>
                </a:lnTo>
                <a:lnTo>
                  <a:pt x="9404216" y="9399397"/>
                </a:lnTo>
                <a:lnTo>
                  <a:pt x="9374547" y="9431694"/>
                </a:lnTo>
                <a:lnTo>
                  <a:pt x="9342236" y="9461349"/>
                </a:lnTo>
                <a:lnTo>
                  <a:pt x="9307461" y="9488185"/>
                </a:lnTo>
                <a:lnTo>
                  <a:pt x="9270402" y="9512022"/>
                </a:lnTo>
                <a:lnTo>
                  <a:pt x="9231237" y="9532683"/>
                </a:lnTo>
                <a:lnTo>
                  <a:pt x="9190145" y="9549988"/>
                </a:lnTo>
                <a:lnTo>
                  <a:pt x="9147305" y="9563758"/>
                </a:lnTo>
                <a:lnTo>
                  <a:pt x="9102895" y="9573815"/>
                </a:lnTo>
                <a:lnTo>
                  <a:pt x="9057095" y="9579981"/>
                </a:lnTo>
                <a:lnTo>
                  <a:pt x="9010083" y="9582075"/>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78" name="Google Shape;78;p16"/>
          <p:cNvSpPr txBox="1"/>
          <p:nvPr/>
        </p:nvSpPr>
        <p:spPr>
          <a:xfrm>
            <a:off x="246737" y="1925575"/>
            <a:ext cx="3723900" cy="1042526"/>
          </a:xfrm>
          <a:prstGeom prst="rect">
            <a:avLst/>
          </a:prstGeom>
          <a:noFill/>
          <a:ln>
            <a:noFill/>
          </a:ln>
        </p:spPr>
        <p:txBody>
          <a:bodyPr spcFirstLastPara="1" wrap="square" lIns="0" tIns="16825" rIns="0" bIns="0" anchor="t" anchorCtr="0">
            <a:spAutoFit/>
          </a:bodyPr>
          <a:lstStyle/>
          <a:p>
            <a:pPr marL="12700" marR="0" lvl="0" indent="0" algn="ctr" rtl="0">
              <a:lnSpc>
                <a:spcPct val="119000"/>
              </a:lnSpc>
              <a:spcBef>
                <a:spcPts val="0"/>
              </a:spcBef>
              <a:spcAft>
                <a:spcPts val="0"/>
              </a:spcAft>
              <a:buClr>
                <a:srgbClr val="000000"/>
              </a:buClr>
              <a:buSzPts val="2800"/>
              <a:buFont typeface="Arial"/>
              <a:buNone/>
            </a:pPr>
            <a:r>
              <a:rPr lang="en-IN" sz="2800" b="1" i="0" u="none" strike="noStrike" cap="none" dirty="0">
                <a:solidFill>
                  <a:schemeClr val="lt1"/>
                </a:solidFill>
                <a:latin typeface="IBM Plex Sans"/>
                <a:ea typeface="IBM Plex Sans"/>
                <a:cs typeface="IBM Plex Sans"/>
                <a:sym typeface="IBM Plex Sans"/>
              </a:rPr>
              <a:t>Salesforce with AI</a:t>
            </a:r>
            <a:endParaRPr sz="1100" b="0" i="0" u="none" strike="noStrike" cap="none" dirty="0">
              <a:solidFill>
                <a:srgbClr val="000000"/>
              </a:solidFill>
              <a:latin typeface="Arial"/>
              <a:ea typeface="Arial"/>
              <a:cs typeface="Arial"/>
              <a:sym typeface="Arial"/>
            </a:endParaRPr>
          </a:p>
          <a:p>
            <a:pPr marL="12700" marR="0" lvl="0" indent="0" algn="ctr" rtl="0">
              <a:lnSpc>
                <a:spcPct val="119000"/>
              </a:lnSpc>
              <a:spcBef>
                <a:spcPts val="0"/>
              </a:spcBef>
              <a:spcAft>
                <a:spcPts val="0"/>
              </a:spcAft>
              <a:buClr>
                <a:srgbClr val="000000"/>
              </a:buClr>
              <a:buSzPts val="2800"/>
              <a:buFont typeface="Arial"/>
              <a:buNone/>
            </a:pPr>
            <a:r>
              <a:rPr lang="en" sz="2800" b="1" i="0" u="none" strike="noStrike" cap="none" dirty="0">
                <a:solidFill>
                  <a:schemeClr val="lt1"/>
                </a:solidFill>
                <a:latin typeface="IBM Plex Sans"/>
                <a:ea typeface="IBM Plex Sans"/>
                <a:cs typeface="IBM Plex Sans"/>
                <a:sym typeface="IBM Plex Sans"/>
              </a:rPr>
              <a:t>Use-Cases</a:t>
            </a:r>
            <a:endParaRPr sz="3800" b="1" i="0" u="none" strike="noStrike" cap="none" dirty="0">
              <a:solidFill>
                <a:schemeClr val="lt1"/>
              </a:solidFill>
              <a:latin typeface="IBM Plex Sans"/>
              <a:ea typeface="IBM Plex Sans"/>
              <a:cs typeface="IBM Plex Sans"/>
              <a:sym typeface="IBM Plex Sans"/>
            </a:endParaRPr>
          </a:p>
        </p:txBody>
      </p:sp>
      <p:sp>
        <p:nvSpPr>
          <p:cNvPr id="79" name="Google Shape;79;p16"/>
          <p:cNvSpPr txBox="1"/>
          <p:nvPr/>
        </p:nvSpPr>
        <p:spPr>
          <a:xfrm>
            <a:off x="4287485" y="769655"/>
            <a:ext cx="4443600" cy="3604200"/>
          </a:xfrm>
          <a:prstGeom prst="rect">
            <a:avLst/>
          </a:prstGeom>
          <a:noFill/>
          <a:ln>
            <a:noFill/>
          </a:ln>
        </p:spPr>
        <p:txBody>
          <a:bodyPr spcFirstLastPara="1" wrap="square" lIns="0" tIns="41600" rIns="0" bIns="0" anchor="t" anchorCtr="0">
            <a:noAutofit/>
          </a:bodyPr>
          <a:lstStyle/>
          <a:p>
            <a:pPr marL="25400" marR="0" lvl="0" indent="0" algn="l" rtl="0">
              <a:lnSpc>
                <a:spcPct val="115000"/>
              </a:lnSpc>
              <a:spcBef>
                <a:spcPts val="700"/>
              </a:spcBef>
              <a:spcAft>
                <a:spcPts val="0"/>
              </a:spcAft>
              <a:buClr>
                <a:srgbClr val="000000"/>
              </a:buClr>
              <a:buSzPts val="1100"/>
              <a:buFont typeface="Arial"/>
              <a:buNone/>
            </a:pPr>
            <a:r>
              <a:rPr lang="en" sz="1500" b="1" i="0" u="none" strike="noStrike" cap="none" dirty="0">
                <a:solidFill>
                  <a:schemeClr val="dk1"/>
                </a:solidFill>
                <a:latin typeface="Arial"/>
                <a:ea typeface="Arial"/>
                <a:cs typeface="Arial"/>
                <a:sym typeface="Arial"/>
              </a:rPr>
              <a:t>1.AI- Powered Lead Generation System</a:t>
            </a:r>
            <a:endParaRPr sz="1500" b="1" i="0" u="none" strike="noStrike" cap="none" dirty="0">
              <a:solidFill>
                <a:schemeClr val="dk1"/>
              </a:solidFill>
              <a:latin typeface="Arial"/>
              <a:ea typeface="Arial"/>
              <a:cs typeface="Arial"/>
              <a:sym typeface="Arial"/>
            </a:endParaRPr>
          </a:p>
          <a:p>
            <a:pPr marL="25400" marR="0" lvl="0" indent="0" algn="l" rtl="0">
              <a:lnSpc>
                <a:spcPct val="115000"/>
              </a:lnSpc>
              <a:spcBef>
                <a:spcPts val="700"/>
              </a:spcBef>
              <a:spcAft>
                <a:spcPts val="0"/>
              </a:spcAft>
              <a:buClr>
                <a:srgbClr val="000000"/>
              </a:buClr>
              <a:buSzPts val="1100"/>
              <a:buFont typeface="Arial"/>
              <a:buNone/>
            </a:pPr>
            <a:r>
              <a:rPr lang="en" sz="1500" b="1" i="0" u="none" strike="noStrike" cap="none" dirty="0">
                <a:solidFill>
                  <a:schemeClr val="dk1"/>
                </a:solidFill>
                <a:latin typeface="Arial"/>
                <a:ea typeface="Arial"/>
                <a:cs typeface="Arial"/>
                <a:sym typeface="Arial"/>
              </a:rPr>
              <a:t>2.AI- Powered Student Admission System &amp; Support Management System</a:t>
            </a:r>
            <a:endParaRPr sz="1500" b="1" i="0" u="none" strike="noStrike" cap="none" dirty="0">
              <a:solidFill>
                <a:schemeClr val="dk1"/>
              </a:solidFill>
              <a:latin typeface="Arial"/>
              <a:ea typeface="Arial"/>
              <a:cs typeface="Arial"/>
              <a:sym typeface="Arial"/>
            </a:endParaRPr>
          </a:p>
          <a:p>
            <a:pPr marL="25400" marR="0" lvl="0" indent="0" algn="l" rtl="0">
              <a:lnSpc>
                <a:spcPct val="115000"/>
              </a:lnSpc>
              <a:spcBef>
                <a:spcPts val="700"/>
              </a:spcBef>
              <a:spcAft>
                <a:spcPts val="0"/>
              </a:spcAft>
              <a:buClr>
                <a:srgbClr val="000000"/>
              </a:buClr>
              <a:buSzPts val="1100"/>
              <a:buFont typeface="Arial"/>
              <a:buNone/>
            </a:pPr>
            <a:r>
              <a:rPr lang="en" sz="1500" b="1" i="0" u="none" strike="noStrike" cap="none" dirty="0">
                <a:solidFill>
                  <a:schemeClr val="dk1"/>
                </a:solidFill>
                <a:latin typeface="Arial"/>
                <a:ea typeface="Arial"/>
                <a:cs typeface="Arial"/>
                <a:sym typeface="Arial"/>
              </a:rPr>
              <a:t>3.AI-Powered Job Recruitment &amp; Candidate Management System</a:t>
            </a:r>
            <a:endParaRPr sz="1500" b="1" i="0" u="none" strike="noStrike" cap="none" dirty="0">
              <a:solidFill>
                <a:schemeClr val="dk1"/>
              </a:solidFill>
              <a:latin typeface="Arial"/>
              <a:ea typeface="Arial"/>
              <a:cs typeface="Arial"/>
              <a:sym typeface="Arial"/>
            </a:endParaRPr>
          </a:p>
          <a:p>
            <a:pPr marL="25400" marR="0" lvl="0" indent="0" algn="l" rtl="0">
              <a:lnSpc>
                <a:spcPct val="115000"/>
              </a:lnSpc>
              <a:spcBef>
                <a:spcPts val="700"/>
              </a:spcBef>
              <a:spcAft>
                <a:spcPts val="0"/>
              </a:spcAft>
              <a:buClr>
                <a:srgbClr val="000000"/>
              </a:buClr>
              <a:buSzPts val="1100"/>
              <a:buFont typeface="Arial"/>
              <a:buNone/>
            </a:pPr>
            <a:r>
              <a:rPr lang="en" sz="1500" b="1" i="0" u="none" strike="noStrike" cap="none" dirty="0">
                <a:solidFill>
                  <a:schemeClr val="dk1"/>
                </a:solidFill>
                <a:latin typeface="Arial"/>
                <a:ea typeface="Arial"/>
                <a:cs typeface="Arial"/>
                <a:sym typeface="Arial"/>
              </a:rPr>
              <a:t>4.AI- Powered Customer Support &amp; Service Automation</a:t>
            </a:r>
            <a:endParaRPr sz="1500" b="1" i="0" u="none" strike="noStrike" cap="none" dirty="0">
              <a:solidFill>
                <a:schemeClr val="dk1"/>
              </a:solidFill>
              <a:latin typeface="Arial"/>
              <a:ea typeface="Arial"/>
              <a:cs typeface="Arial"/>
              <a:sym typeface="Arial"/>
            </a:endParaRPr>
          </a:p>
          <a:p>
            <a:pPr marL="25400" marR="0" lvl="0" indent="0" algn="l" rtl="0">
              <a:lnSpc>
                <a:spcPct val="115000"/>
              </a:lnSpc>
              <a:spcBef>
                <a:spcPts val="700"/>
              </a:spcBef>
              <a:spcAft>
                <a:spcPts val="0"/>
              </a:spcAft>
              <a:buClr>
                <a:srgbClr val="000000"/>
              </a:buClr>
              <a:buSzPts val="1100"/>
              <a:buFont typeface="Arial"/>
              <a:buNone/>
            </a:pPr>
            <a:r>
              <a:rPr lang="en" sz="1500" b="1" i="0" u="none" strike="noStrike" cap="none" dirty="0">
                <a:solidFill>
                  <a:schemeClr val="dk1"/>
                </a:solidFill>
                <a:latin typeface="Arial"/>
                <a:ea typeface="Arial"/>
                <a:cs typeface="Arial"/>
                <a:sym typeface="Arial"/>
              </a:rPr>
              <a:t>5.AI- Powered Customer Support Ticketing System</a:t>
            </a:r>
            <a:endParaRPr sz="1500" b="1" i="0" u="none" strike="noStrike" cap="none" dirty="0">
              <a:solidFill>
                <a:schemeClr val="dk1"/>
              </a:solidFill>
              <a:latin typeface="Arial"/>
              <a:ea typeface="Arial"/>
              <a:cs typeface="Arial"/>
              <a:sym typeface="Arial"/>
            </a:endParaRPr>
          </a:p>
          <a:p>
            <a:pPr marL="0" marR="0" lvl="0" indent="0" algn="l" rtl="0">
              <a:lnSpc>
                <a:spcPct val="115000"/>
              </a:lnSpc>
              <a:spcBef>
                <a:spcPts val="700"/>
              </a:spcBef>
              <a:spcAft>
                <a:spcPts val="0"/>
              </a:spcAft>
              <a:buClr>
                <a:schemeClr val="dk1"/>
              </a:buClr>
              <a:buSzPts val="1100"/>
              <a:buFont typeface="Arial"/>
              <a:buNone/>
            </a:pPr>
            <a:endParaRPr sz="2000" b="1" i="0" u="none" strike="noStrike" cap="none" dirty="0">
              <a:solidFill>
                <a:schemeClr val="dk1"/>
              </a:solidFill>
              <a:latin typeface="Arial"/>
              <a:ea typeface="Arial"/>
              <a:cs typeface="Arial"/>
              <a:sym typeface="Arial"/>
            </a:endParaRPr>
          </a:p>
          <a:p>
            <a:pPr marL="25400" marR="0" lvl="0" indent="0" algn="l" rtl="0">
              <a:lnSpc>
                <a:spcPct val="115000"/>
              </a:lnSpc>
              <a:spcBef>
                <a:spcPts val="700"/>
              </a:spcBef>
              <a:spcAft>
                <a:spcPts val="0"/>
              </a:spcAft>
              <a:buClr>
                <a:srgbClr val="000000"/>
              </a:buClr>
              <a:buSzPts val="2000"/>
              <a:buFont typeface="Arial"/>
              <a:buNone/>
            </a:pPr>
            <a:endParaRPr sz="2000" b="1" i="0" u="none" strike="noStrike" cap="none" dirty="0">
              <a:solidFill>
                <a:schemeClr val="dk1"/>
              </a:solidFill>
              <a:latin typeface="IBM Plex Sans"/>
              <a:ea typeface="IBM Plex Sans"/>
              <a:cs typeface="IBM Plex Sans"/>
              <a:sym typeface="IBM Plex Sans"/>
            </a:endParaRPr>
          </a:p>
          <a:p>
            <a:pPr marL="25400" marR="0" lvl="0" indent="0" algn="l" rtl="0">
              <a:lnSpc>
                <a:spcPct val="115000"/>
              </a:lnSpc>
              <a:spcBef>
                <a:spcPts val="700"/>
              </a:spcBef>
              <a:spcAft>
                <a:spcPts val="0"/>
              </a:spcAft>
              <a:buClr>
                <a:srgbClr val="000000"/>
              </a:buClr>
              <a:buSzPts val="1700"/>
              <a:buFont typeface="Arial"/>
              <a:buNone/>
            </a:pPr>
            <a:endParaRPr sz="1700" b="1" i="0" u="none" strike="noStrike" cap="none" dirty="0">
              <a:solidFill>
                <a:schemeClr val="dk1"/>
              </a:solidFill>
              <a:latin typeface="IBM Plex Sans"/>
              <a:ea typeface="IBM Plex Sans"/>
              <a:cs typeface="IBM Plex Sans"/>
              <a:sym typeface="IBM Plex Sans"/>
            </a:endParaRPr>
          </a:p>
        </p:txBody>
      </p:sp>
      <p:pic>
        <p:nvPicPr>
          <p:cNvPr id="80" name="Google Shape;80;p16"/>
          <p:cNvPicPr preferRelativeResize="0"/>
          <p:nvPr/>
        </p:nvPicPr>
        <p:blipFill>
          <a:blip r:embed="rId3">
            <a:alphaModFix/>
          </a:blip>
          <a:stretch>
            <a:fillRect/>
          </a:stretch>
        </p:blipFill>
        <p:spPr>
          <a:xfrm>
            <a:off x="7726063" y="191925"/>
            <a:ext cx="1251738" cy="577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158050" y="812447"/>
            <a:ext cx="2590800" cy="2322184"/>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- 1: </a:t>
            </a:r>
            <a:r>
              <a:rPr lang="en" sz="2100" b="0" i="0" u="none" strike="noStrike" cap="none" dirty="0">
                <a:solidFill>
                  <a:srgbClr val="21299A"/>
                </a:solidFill>
                <a:latin typeface="IBM Plex Sans"/>
                <a:ea typeface="IBM Plex Sans"/>
                <a:cs typeface="IBM Plex Sans"/>
                <a:sym typeface="IBM Plex Sans"/>
              </a:rPr>
              <a:t> </a:t>
            </a:r>
            <a:endParaRPr lang="en" sz="2100"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endParaRPr lang="en" sz="2100" b="0" i="0" u="none" strike="noStrike" cap="none" dirty="0">
              <a:solidFill>
                <a:srgbClr val="21299A"/>
              </a:solidFill>
              <a:latin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chemeClr val="dk1"/>
                </a:solidFill>
                <a:latin typeface="Arial"/>
                <a:ea typeface="Arial"/>
                <a:cs typeface="Arial"/>
                <a:sym typeface="Arial"/>
              </a:rPr>
              <a:t>AI- Powered Lead Generation </a:t>
            </a:r>
            <a:endParaRPr sz="2000" b="0"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100"/>
              <a:buFont typeface="Arial"/>
              <a:buNone/>
            </a:pPr>
            <a:endParaRPr sz="2100" b="1"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1"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p:txBody>
      </p:sp>
      <p:sp>
        <p:nvSpPr>
          <p:cNvPr id="86" name="Google Shape;86;p17"/>
          <p:cNvSpPr txBox="1"/>
          <p:nvPr/>
        </p:nvSpPr>
        <p:spPr>
          <a:xfrm>
            <a:off x="3216913" y="468751"/>
            <a:ext cx="5529300" cy="33444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500"/>
              </a:spcBef>
              <a:spcAft>
                <a:spcPts val="0"/>
              </a:spcAft>
              <a:buClr>
                <a:srgbClr val="000000"/>
              </a:buClr>
              <a:buSzPts val="1700"/>
              <a:buFont typeface="Arial"/>
              <a:buNone/>
            </a:pPr>
            <a:r>
              <a:rPr lang="en" sz="1700" b="1" i="0" u="none" strike="noStrike" cap="none" dirty="0">
                <a:solidFill>
                  <a:srgbClr val="21299A"/>
                </a:solidFill>
                <a:latin typeface="IBM Plex Sans"/>
                <a:ea typeface="IBM Plex Sans"/>
                <a:cs typeface="IBM Plex Sans"/>
                <a:sym typeface="IBM Plex Sans"/>
              </a:rPr>
              <a:t>Project Problem Statement</a:t>
            </a:r>
            <a:r>
              <a:rPr lang="en" sz="1700" b="0" i="0" u="none" strike="noStrike" cap="none" dirty="0">
                <a:solidFill>
                  <a:schemeClr val="dk1"/>
                </a:solidFill>
                <a:latin typeface="IBM Plex Sans"/>
                <a:ea typeface="IBM Plex Sans"/>
                <a:cs typeface="IBM Plex Sans"/>
                <a:sym typeface="IBM Plex Sans"/>
              </a:rPr>
              <a:t> :</a:t>
            </a:r>
          </a:p>
          <a:p>
            <a:pPr marL="0" marR="0" lvl="0" indent="0" algn="l" rtl="0">
              <a:lnSpc>
                <a:spcPct val="115000"/>
              </a:lnSpc>
              <a:spcBef>
                <a:spcPts val="500"/>
              </a:spcBef>
              <a:spcAft>
                <a:spcPts val="0"/>
              </a:spcAft>
              <a:buClr>
                <a:srgbClr val="000000"/>
              </a:buClr>
              <a:buSzPts val="1700"/>
              <a:buFont typeface="Arial"/>
              <a:buNone/>
            </a:pPr>
            <a:endParaRPr sz="1700" b="0" i="0" u="none" strike="noStrike" cap="none" dirty="0">
              <a:solidFill>
                <a:schemeClr val="dk1"/>
              </a:solidFill>
              <a:latin typeface="IBM Plex Sans"/>
              <a:ea typeface="IBM Plex Sans"/>
              <a:cs typeface="IBM Plex Sans"/>
              <a:sym typeface="IBM Plex Sans"/>
            </a:endParaRPr>
          </a:p>
          <a:p>
            <a:r>
              <a:rPr lang="en-US" dirty="0">
                <a:highlight>
                  <a:srgbClr val="FFFFFF"/>
                </a:highlight>
              </a:rPr>
              <a:t>Modern sales teams receive a large volume of leads from websites, campaigns, and marketing channels, but they struggle to identify which leads are truly valuable. Manual lead scoring is slow, inconsistent, and dependent on human judgment, causing high-potential leads to be missed and low-quality leads to consume sales effort.</a:t>
            </a:r>
          </a:p>
          <a:p>
            <a:r>
              <a:rPr lang="en-US" dirty="0">
                <a:highlight>
                  <a:srgbClr val="FFFFFF"/>
                </a:highlight>
              </a:rPr>
              <a:t>Organizations need an intelligent system that automatically analyzes lead information, predicts conversion potential, prioritizes leads, and suggests next actions so that sales representatives can focus on the most promising opportunities.</a:t>
            </a:r>
          </a:p>
          <a:p>
            <a:r>
              <a:rPr lang="en-US" dirty="0">
                <a:highlight>
                  <a:srgbClr val="FFFFFF"/>
                </a:highlight>
              </a:rPr>
              <a:t>The challenge is to build an AI-powered Salesforce system that automates lead scoring, prioritization, alerts, and summaries while ensuring secure role-based access and scalable automation.</a:t>
            </a:r>
          </a:p>
          <a:p>
            <a:pPr marL="0" marR="0" lvl="0" indent="0" algn="l" rtl="0">
              <a:lnSpc>
                <a:spcPct val="115000"/>
              </a:lnSpc>
              <a:spcBef>
                <a:spcPts val="1100"/>
              </a:spcBef>
              <a:spcAft>
                <a:spcPts val="0"/>
              </a:spcAft>
              <a:buClr>
                <a:srgbClr val="000000"/>
              </a:buClr>
              <a:buSzPts val="1200"/>
              <a:buFont typeface="Arial"/>
              <a:buNone/>
            </a:pPr>
            <a:endParaRPr sz="1200" b="0" i="0" u="none" strike="noStrike" cap="none" dirty="0">
              <a:solidFill>
                <a:schemeClr val="dk1"/>
              </a:solidFill>
              <a:latin typeface="IBM Plex Sans"/>
              <a:ea typeface="IBM Plex Sans"/>
              <a:cs typeface="IBM Plex Sans"/>
              <a:sym typeface="IBM Plex Sans"/>
            </a:endParaRPr>
          </a:p>
        </p:txBody>
      </p:sp>
      <p:sp>
        <p:nvSpPr>
          <p:cNvPr id="87" name="Google Shape;87;p17"/>
          <p:cNvSpPr txBox="1"/>
          <p:nvPr/>
        </p:nvSpPr>
        <p:spPr>
          <a:xfrm>
            <a:off x="514350" y="48940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89" name="Google Shape;89;p17"/>
          <p:cNvSpPr/>
          <p:nvPr/>
        </p:nvSpPr>
        <p:spPr>
          <a:xfrm>
            <a:off x="7343975" y="0"/>
            <a:ext cx="1800015" cy="812187"/>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2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6">
                                            <p:txEl>
                                              <p:pRg st="0" end="0"/>
                                            </p:txEl>
                                          </p:spTgt>
                                        </p:tgtEl>
                                        <p:attrNameLst>
                                          <p:attrName>style.visibility</p:attrName>
                                        </p:attrNameLst>
                                      </p:cBhvr>
                                      <p:to>
                                        <p:strVal val="visible"/>
                                      </p:to>
                                    </p:set>
                                    <p:animEffect transition="in" filter="fade">
                                      <p:cBhvr>
                                        <p:cTn id="12" dur="2500"/>
                                        <p:tgtEl>
                                          <p:spTgt spid="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6">
                                            <p:txEl>
                                              <p:pRg st="2" end="2"/>
                                            </p:txEl>
                                          </p:spTgt>
                                        </p:tgtEl>
                                        <p:attrNameLst>
                                          <p:attrName>style.visibility</p:attrName>
                                        </p:attrNameLst>
                                      </p:cBhvr>
                                      <p:to>
                                        <p:strVal val="visible"/>
                                      </p:to>
                                    </p:set>
                                    <p:animEffect transition="in" filter="fade">
                                      <p:cBhvr>
                                        <p:cTn id="17" dur="2500"/>
                                        <p:tgtEl>
                                          <p:spTgt spid="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6">
                                            <p:txEl>
                                              <p:pRg st="3" end="3"/>
                                            </p:txEl>
                                          </p:spTgt>
                                        </p:tgtEl>
                                        <p:attrNameLst>
                                          <p:attrName>style.visibility</p:attrName>
                                        </p:attrNameLst>
                                      </p:cBhvr>
                                      <p:to>
                                        <p:strVal val="visible"/>
                                      </p:to>
                                    </p:set>
                                    <p:animEffect transition="in" filter="fade">
                                      <p:cBhvr>
                                        <p:cTn id="22" dur="2500"/>
                                        <p:tgtEl>
                                          <p:spTgt spid="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6">
                                            <p:txEl>
                                              <p:pRg st="4" end="4"/>
                                            </p:txEl>
                                          </p:spTgt>
                                        </p:tgtEl>
                                        <p:attrNameLst>
                                          <p:attrName>style.visibility</p:attrName>
                                        </p:attrNameLst>
                                      </p:cBhvr>
                                      <p:to>
                                        <p:strVal val="visible"/>
                                      </p:to>
                                    </p:set>
                                    <p:animEffect transition="in" filter="fade">
                                      <p:cBhvr>
                                        <p:cTn id="27" dur="2500"/>
                                        <p:tgtEl>
                                          <p:spTgt spid="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3"/>
        <p:cNvGrpSpPr/>
        <p:nvPr/>
      </p:nvGrpSpPr>
      <p:grpSpPr>
        <a:xfrm>
          <a:off x="0" y="0"/>
          <a:ext cx="0" cy="0"/>
          <a:chOff x="0" y="0"/>
          <a:chExt cx="0" cy="0"/>
        </a:xfrm>
      </p:grpSpPr>
      <p:sp>
        <p:nvSpPr>
          <p:cNvPr id="94" name="Google Shape;94;p18"/>
          <p:cNvSpPr/>
          <p:nvPr/>
        </p:nvSpPr>
        <p:spPr>
          <a:xfrm>
            <a:off x="3477200" y="639050"/>
            <a:ext cx="5310188" cy="4051125"/>
          </a:xfrm>
          <a:custGeom>
            <a:avLst/>
            <a:gdLst/>
            <a:ahLst/>
            <a:cxnLst/>
            <a:rect l="l" t="t" r="r" b="b"/>
            <a:pathLst>
              <a:path w="10620375" h="7753350" extrusionOk="0">
                <a:moveTo>
                  <a:pt x="10179749" y="7753334"/>
                </a:moveTo>
                <a:lnTo>
                  <a:pt x="440625" y="7753334"/>
                </a:lnTo>
                <a:lnTo>
                  <a:pt x="392469" y="7750761"/>
                </a:lnTo>
                <a:lnTo>
                  <a:pt x="345851" y="7743218"/>
                </a:lnTo>
                <a:lnTo>
                  <a:pt x="301035" y="7730968"/>
                </a:lnTo>
                <a:lnTo>
                  <a:pt x="258284" y="7714277"/>
                </a:lnTo>
                <a:lnTo>
                  <a:pt x="217864" y="7693408"/>
                </a:lnTo>
                <a:lnTo>
                  <a:pt x="180039" y="7668626"/>
                </a:lnTo>
                <a:lnTo>
                  <a:pt x="145073" y="7640194"/>
                </a:lnTo>
                <a:lnTo>
                  <a:pt x="113230" y="7608377"/>
                </a:lnTo>
                <a:lnTo>
                  <a:pt x="84776" y="7573439"/>
                </a:lnTo>
                <a:lnTo>
                  <a:pt x="59973" y="7535645"/>
                </a:lnTo>
                <a:lnTo>
                  <a:pt x="39088" y="7495257"/>
                </a:lnTo>
                <a:lnTo>
                  <a:pt x="22383" y="7452541"/>
                </a:lnTo>
                <a:lnTo>
                  <a:pt x="10124" y="7407761"/>
                </a:lnTo>
                <a:lnTo>
                  <a:pt x="2575" y="7361180"/>
                </a:lnTo>
                <a:lnTo>
                  <a:pt x="0" y="7313064"/>
                </a:lnTo>
                <a:lnTo>
                  <a:pt x="0" y="440270"/>
                </a:lnTo>
                <a:lnTo>
                  <a:pt x="2575" y="392153"/>
                </a:lnTo>
                <a:lnTo>
                  <a:pt x="10124" y="345573"/>
                </a:lnTo>
                <a:lnTo>
                  <a:pt x="22383" y="300792"/>
                </a:lnTo>
                <a:lnTo>
                  <a:pt x="39088" y="258076"/>
                </a:lnTo>
                <a:lnTo>
                  <a:pt x="59973" y="217689"/>
                </a:lnTo>
                <a:lnTo>
                  <a:pt x="84776" y="179894"/>
                </a:lnTo>
                <a:lnTo>
                  <a:pt x="113230" y="144956"/>
                </a:lnTo>
                <a:lnTo>
                  <a:pt x="145073" y="113139"/>
                </a:lnTo>
                <a:lnTo>
                  <a:pt x="180039" y="84708"/>
                </a:lnTo>
                <a:lnTo>
                  <a:pt x="217864" y="59925"/>
                </a:lnTo>
                <a:lnTo>
                  <a:pt x="258284" y="39056"/>
                </a:lnTo>
                <a:lnTo>
                  <a:pt x="301035" y="22365"/>
                </a:lnTo>
                <a:lnTo>
                  <a:pt x="345851" y="10116"/>
                </a:lnTo>
                <a:lnTo>
                  <a:pt x="392469" y="2573"/>
                </a:lnTo>
                <a:lnTo>
                  <a:pt x="440625" y="0"/>
                </a:lnTo>
                <a:lnTo>
                  <a:pt x="10179749" y="0"/>
                </a:lnTo>
                <a:lnTo>
                  <a:pt x="10227904" y="2573"/>
                </a:lnTo>
                <a:lnTo>
                  <a:pt x="10274522" y="10116"/>
                </a:lnTo>
                <a:lnTo>
                  <a:pt x="10319339" y="22365"/>
                </a:lnTo>
                <a:lnTo>
                  <a:pt x="10362089" y="39056"/>
                </a:lnTo>
                <a:lnTo>
                  <a:pt x="10402509" y="59925"/>
                </a:lnTo>
                <a:lnTo>
                  <a:pt x="10440334" y="84708"/>
                </a:lnTo>
                <a:lnTo>
                  <a:pt x="10475300" y="113139"/>
                </a:lnTo>
                <a:lnTo>
                  <a:pt x="10507143" y="144956"/>
                </a:lnTo>
                <a:lnTo>
                  <a:pt x="10535598" y="179894"/>
                </a:lnTo>
                <a:lnTo>
                  <a:pt x="10560400" y="217689"/>
                </a:lnTo>
                <a:lnTo>
                  <a:pt x="10581286" y="258076"/>
                </a:lnTo>
                <a:lnTo>
                  <a:pt x="10597990" y="300792"/>
                </a:lnTo>
                <a:lnTo>
                  <a:pt x="10610249" y="345573"/>
                </a:lnTo>
                <a:lnTo>
                  <a:pt x="10617799" y="392153"/>
                </a:lnTo>
                <a:lnTo>
                  <a:pt x="10620374" y="440270"/>
                </a:lnTo>
                <a:lnTo>
                  <a:pt x="10620374" y="7313064"/>
                </a:lnTo>
                <a:lnTo>
                  <a:pt x="10617799" y="7361180"/>
                </a:lnTo>
                <a:lnTo>
                  <a:pt x="10610249" y="7407761"/>
                </a:lnTo>
                <a:lnTo>
                  <a:pt x="10597990" y="7452541"/>
                </a:lnTo>
                <a:lnTo>
                  <a:pt x="10581286" y="7495257"/>
                </a:lnTo>
                <a:lnTo>
                  <a:pt x="10560400" y="7535645"/>
                </a:lnTo>
                <a:lnTo>
                  <a:pt x="10535598" y="7573439"/>
                </a:lnTo>
                <a:lnTo>
                  <a:pt x="10507143" y="7608377"/>
                </a:lnTo>
                <a:lnTo>
                  <a:pt x="10475300" y="7640194"/>
                </a:lnTo>
                <a:lnTo>
                  <a:pt x="10440334" y="7668626"/>
                </a:lnTo>
                <a:lnTo>
                  <a:pt x="10402509" y="7693408"/>
                </a:lnTo>
                <a:lnTo>
                  <a:pt x="10362089" y="7714277"/>
                </a:lnTo>
                <a:lnTo>
                  <a:pt x="10319339" y="7730968"/>
                </a:lnTo>
                <a:lnTo>
                  <a:pt x="10274522" y="7743218"/>
                </a:lnTo>
                <a:lnTo>
                  <a:pt x="10227904" y="7750761"/>
                </a:lnTo>
                <a:lnTo>
                  <a:pt x="10179749" y="7753334"/>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95" name="Google Shape;95;p18"/>
          <p:cNvSpPr txBox="1"/>
          <p:nvPr/>
        </p:nvSpPr>
        <p:spPr>
          <a:xfrm>
            <a:off x="3430725" y="606150"/>
            <a:ext cx="5061000" cy="39312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Social Impact: </a:t>
            </a:r>
          </a:p>
          <a:p>
            <a:pPr marL="171450" lvl="0" indent="-171450">
              <a:lnSpc>
                <a:spcPct val="115000"/>
              </a:lnSpc>
              <a:buSzPts val="1000"/>
              <a:buFont typeface="Arial" panose="020B0604020202020204" pitchFamily="34" charset="0"/>
              <a:buChar char="•"/>
            </a:pPr>
            <a:r>
              <a:rPr lang="en-US" sz="1000" dirty="0"/>
              <a:t>Faster response to genuine customer inquiries</a:t>
            </a:r>
          </a:p>
          <a:p>
            <a:pPr marL="171450" lvl="0" indent="-171450">
              <a:lnSpc>
                <a:spcPct val="115000"/>
              </a:lnSpc>
              <a:buSzPts val="1000"/>
              <a:buFont typeface="Arial" panose="020B0604020202020204" pitchFamily="34" charset="0"/>
              <a:buChar char="•"/>
            </a:pPr>
            <a:r>
              <a:rPr lang="en-US" sz="1000" dirty="0"/>
              <a:t>Fair and unbiased lead prioritization</a:t>
            </a:r>
          </a:p>
          <a:p>
            <a:pPr marL="171450" lvl="0" indent="-171450">
              <a:lnSpc>
                <a:spcPct val="115000"/>
              </a:lnSpc>
              <a:buSzPts val="1000"/>
              <a:buFont typeface="Arial" panose="020B0604020202020204" pitchFamily="34" charset="0"/>
              <a:buChar char="•"/>
            </a:pPr>
            <a:r>
              <a:rPr lang="en-US" sz="1000" dirty="0"/>
              <a:t>Reduced employee workload and stress</a:t>
            </a:r>
          </a:p>
          <a:p>
            <a:pPr marL="171450" lvl="0" indent="-171450">
              <a:lnSpc>
                <a:spcPct val="115000"/>
              </a:lnSpc>
              <a:buSzPts val="1000"/>
              <a:buFont typeface="Arial" panose="020B0604020202020204" pitchFamily="34" charset="0"/>
              <a:buChar char="•"/>
            </a:pPr>
            <a:r>
              <a:rPr lang="en-IN" sz="1000" dirty="0"/>
              <a:t>Improved customer experience</a:t>
            </a:r>
            <a:endParaRPr sz="10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11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Business Model /Impact: </a:t>
            </a:r>
          </a:p>
          <a:p>
            <a:pPr marL="171450" lvl="0" indent="-171450">
              <a:spcBef>
                <a:spcPts val="1100"/>
              </a:spcBef>
              <a:buSzPts val="1000"/>
              <a:buFont typeface="Arial" panose="020B0604020202020204" pitchFamily="34" charset="0"/>
              <a:buChar char="•"/>
            </a:pPr>
            <a:r>
              <a:rPr lang="en-IN" sz="1000" dirty="0"/>
              <a:t>Increased lead conversion rates</a:t>
            </a:r>
          </a:p>
          <a:p>
            <a:pPr marL="171450" lvl="0" indent="-171450">
              <a:spcBef>
                <a:spcPts val="1100"/>
              </a:spcBef>
              <a:buSzPts val="1000"/>
              <a:buFont typeface="Arial" panose="020B0604020202020204" pitchFamily="34" charset="0"/>
              <a:buChar char="•"/>
            </a:pPr>
            <a:r>
              <a:rPr lang="en-IN" sz="1000" dirty="0"/>
              <a:t>Better sales productivity</a:t>
            </a:r>
          </a:p>
          <a:p>
            <a:pPr marL="171450" lvl="0" indent="-171450">
              <a:spcBef>
                <a:spcPts val="1100"/>
              </a:spcBef>
              <a:buSzPts val="1000"/>
              <a:buFont typeface="Arial" panose="020B0604020202020204" pitchFamily="34" charset="0"/>
              <a:buChar char="•"/>
            </a:pPr>
            <a:r>
              <a:rPr lang="en-IN" sz="1000" dirty="0"/>
              <a:t>Reduced manual qualification effort</a:t>
            </a:r>
          </a:p>
          <a:p>
            <a:pPr marL="171450" lvl="0" indent="-171450">
              <a:spcBef>
                <a:spcPts val="1100"/>
              </a:spcBef>
              <a:buSzPts val="1000"/>
              <a:buFont typeface="Arial" panose="020B0604020202020204" pitchFamily="34" charset="0"/>
              <a:buChar char="•"/>
            </a:pPr>
            <a:r>
              <a:rPr lang="en-IN" sz="1000" dirty="0"/>
              <a:t>Higher revenue efficiency</a:t>
            </a:r>
            <a:endParaRPr sz="10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15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Roboto"/>
                <a:ea typeface="Roboto"/>
                <a:cs typeface="Roboto"/>
                <a:sym typeface="Roboto"/>
              </a:rPr>
              <a:t>Recommended Technology Stacks :</a:t>
            </a:r>
          </a:p>
          <a:p>
            <a:pPr lvl="0">
              <a:lnSpc>
                <a:spcPct val="115000"/>
              </a:lnSpc>
              <a:spcBef>
                <a:spcPts val="1500"/>
              </a:spcBef>
              <a:buSzPts val="1000"/>
            </a:pPr>
            <a:r>
              <a:rPr lang="en-IN" sz="1000" dirty="0"/>
              <a:t>Salesforce CRM, Record-Triggered Flows, Agentforce AI, Prompt Builder, Lightning Experience, Reports &amp; Dashboards</a:t>
            </a:r>
            <a:endParaRPr sz="1000" b="0" i="0" u="none" strike="noStrike" cap="none" dirty="0">
              <a:solidFill>
                <a:schemeClr val="dk1"/>
              </a:solidFill>
              <a:latin typeface="IBM Plex Sans"/>
              <a:ea typeface="IBM Plex Sans"/>
              <a:cs typeface="IBM Plex Sans"/>
              <a:sym typeface="IBM Plex Sans"/>
            </a:endParaRPr>
          </a:p>
          <a:p>
            <a:pPr marL="0" marR="0" lvl="0" indent="0" algn="l" rtl="0">
              <a:lnSpc>
                <a:spcPct val="115000"/>
              </a:lnSpc>
              <a:spcBef>
                <a:spcPts val="1400"/>
              </a:spcBef>
              <a:spcAft>
                <a:spcPts val="0"/>
              </a:spcAft>
              <a:buClr>
                <a:srgbClr val="000000"/>
              </a:buClr>
              <a:buSzPts val="1000"/>
              <a:buFont typeface="Arial"/>
              <a:buNone/>
            </a:pPr>
            <a:endParaRPr sz="1000" b="1" dirty="0">
              <a:solidFill>
                <a:srgbClr val="21299A"/>
              </a:solidFill>
              <a:highlight>
                <a:srgbClr val="F1F1F1"/>
              </a:highlight>
              <a:latin typeface="Roboto"/>
              <a:ea typeface="Roboto"/>
              <a:cs typeface="Roboto"/>
              <a:sym typeface="Roboto"/>
            </a:endParaRPr>
          </a:p>
          <a:p>
            <a:pPr marL="0" marR="0" lvl="0" indent="0" algn="l" rtl="0">
              <a:lnSpc>
                <a:spcPct val="100000"/>
              </a:lnSpc>
              <a:spcBef>
                <a:spcPts val="1400"/>
              </a:spcBef>
              <a:spcAft>
                <a:spcPts val="0"/>
              </a:spcAft>
              <a:buClr>
                <a:srgbClr val="000000"/>
              </a:buClr>
              <a:buSzPts val="1000"/>
              <a:buFont typeface="Arial"/>
              <a:buNone/>
            </a:pPr>
            <a:endParaRPr sz="1000" b="0" i="0" u="none" strike="noStrike" cap="none" dirty="0">
              <a:solidFill>
                <a:schemeClr val="dk1"/>
              </a:solidFill>
              <a:highlight>
                <a:srgbClr val="F1F1F1"/>
              </a:highlight>
              <a:latin typeface="Roboto"/>
              <a:ea typeface="Roboto"/>
              <a:cs typeface="Roboto"/>
              <a:sym typeface="Roboto"/>
            </a:endParaRPr>
          </a:p>
          <a:p>
            <a:pPr marL="0" marR="0" lvl="0" indent="0" algn="l" rtl="0">
              <a:lnSpc>
                <a:spcPct val="115000"/>
              </a:lnSpc>
              <a:spcBef>
                <a:spcPts val="400"/>
              </a:spcBef>
              <a:spcAft>
                <a:spcPts val="0"/>
              </a:spcAft>
              <a:buClr>
                <a:schemeClr val="dk1"/>
              </a:buClr>
              <a:buSzPts val="800"/>
              <a:buFont typeface="Arial"/>
              <a:buNone/>
            </a:pPr>
            <a:endParaRPr sz="1000" b="0" i="0" u="none" strike="noStrike" cap="none" dirty="0">
              <a:solidFill>
                <a:srgbClr val="374151"/>
              </a:solidFill>
              <a:highlight>
                <a:schemeClr val="lt2"/>
              </a:highlight>
              <a:latin typeface="Roboto"/>
              <a:ea typeface="Roboto"/>
              <a:cs typeface="Roboto"/>
              <a:sym typeface="Roboto"/>
            </a:endParaRPr>
          </a:p>
          <a:p>
            <a:pPr marL="0" marR="0" lvl="0" indent="0" algn="l" rtl="0">
              <a:lnSpc>
                <a:spcPct val="115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0" marR="0" lvl="0" indent="0" algn="l" rtl="0">
              <a:lnSpc>
                <a:spcPct val="115000"/>
              </a:lnSpc>
              <a:spcBef>
                <a:spcPts val="0"/>
              </a:spcBef>
              <a:spcAft>
                <a:spcPts val="0"/>
              </a:spcAft>
              <a:buClr>
                <a:srgbClr val="000000"/>
              </a:buClr>
              <a:buSzPts val="1000"/>
              <a:buFont typeface="Arial"/>
              <a:buNone/>
            </a:pPr>
            <a:endParaRPr sz="1000" b="0" i="0" u="none" strike="noStrike" cap="none" dirty="0">
              <a:solidFill>
                <a:srgbClr val="37415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rgbClr val="000000"/>
              </a:buClr>
              <a:buSzPts val="1000"/>
              <a:buFont typeface="Arial"/>
              <a:buNone/>
            </a:pPr>
            <a:endParaRPr sz="1000" b="0" i="0" u="none" strike="noStrike" cap="none" dirty="0">
              <a:solidFill>
                <a:srgbClr val="000000"/>
              </a:solidFill>
              <a:highlight>
                <a:schemeClr val="lt2"/>
              </a:highlight>
              <a:latin typeface="IBM Plex Sans"/>
              <a:ea typeface="IBM Plex Sans"/>
              <a:cs typeface="IBM Plex Sans"/>
              <a:sym typeface="IBM Plex Sans"/>
            </a:endParaRPr>
          </a:p>
        </p:txBody>
      </p:sp>
      <p:sp>
        <p:nvSpPr>
          <p:cNvPr id="96" name="Google Shape;96;p18"/>
          <p:cNvSpPr txBox="1"/>
          <p:nvPr/>
        </p:nvSpPr>
        <p:spPr>
          <a:xfrm>
            <a:off x="240050" y="872413"/>
            <a:ext cx="2590800" cy="2034413"/>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- 1: </a:t>
            </a:r>
          </a:p>
          <a:p>
            <a:pPr marL="0" marR="0" lvl="0" indent="0" algn="l" rtl="0">
              <a:lnSpc>
                <a:spcPct val="90000"/>
              </a:lnSpc>
              <a:spcBef>
                <a:spcPts val="0"/>
              </a:spcBef>
              <a:spcAft>
                <a:spcPts val="0"/>
              </a:spcAft>
              <a:buClr>
                <a:srgbClr val="000000"/>
              </a:buClr>
              <a:buSzPts val="2000"/>
              <a:buFont typeface="Arial"/>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r>
              <a:rPr lang="en-IN" sz="2000" b="0" i="0" u="none" strike="noStrike" cap="none" dirty="0">
                <a:solidFill>
                  <a:schemeClr val="dk1"/>
                </a:solidFill>
                <a:latin typeface="Arial"/>
                <a:ea typeface="Arial"/>
                <a:cs typeface="Arial"/>
                <a:sym typeface="Arial"/>
              </a:rPr>
              <a:t>AI- Powered Lead Generation</a:t>
            </a:r>
            <a:endParaRPr sz="2000" b="0" i="0" u="none" strike="noStrike" cap="none" dirty="0">
              <a:solidFill>
                <a:srgbClr val="21299A"/>
              </a:solidFill>
              <a:highlight>
                <a:schemeClr val="lt2"/>
              </a:highlight>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0"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p:txBody>
      </p:sp>
      <p:sp>
        <p:nvSpPr>
          <p:cNvPr id="97" name="Google Shape;97;p18"/>
          <p:cNvSpPr txBox="1"/>
          <p:nvPr/>
        </p:nvSpPr>
        <p:spPr>
          <a:xfrm>
            <a:off x="514350" y="47416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98" name="Google Shape;98;p18"/>
          <p:cNvSpPr txBox="1"/>
          <p:nvPr/>
        </p:nvSpPr>
        <p:spPr>
          <a:xfrm>
            <a:off x="8491727" y="4741666"/>
            <a:ext cx="2760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1200" b="1" i="0" u="none" strike="noStrike" cap="none">
              <a:solidFill>
                <a:srgbClr val="21295C"/>
              </a:solidFill>
              <a:latin typeface="Montserrat"/>
              <a:ea typeface="Montserrat"/>
              <a:cs typeface="Montserrat"/>
              <a:sym typeface="Montserrat"/>
            </a:endParaRPr>
          </a:p>
        </p:txBody>
      </p:sp>
      <p:sp>
        <p:nvSpPr>
          <p:cNvPr id="100" name="Google Shape;100;p18"/>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2500"/>
                                        <p:tgtEl>
                                          <p:spTgt spid="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
                                            <p:txEl>
                                              <p:pRg st="1" end="1"/>
                                            </p:txEl>
                                          </p:spTgt>
                                        </p:tgtEl>
                                        <p:attrNameLst>
                                          <p:attrName>style.visibility</p:attrName>
                                        </p:attrNameLst>
                                      </p:cBhvr>
                                      <p:to>
                                        <p:strVal val="visible"/>
                                      </p:to>
                                    </p:set>
                                    <p:animEffect transition="in" filter="fade">
                                      <p:cBhvr>
                                        <p:cTn id="12" dur="2500"/>
                                        <p:tgtEl>
                                          <p:spTgt spid="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
                                            <p:txEl>
                                              <p:pRg st="2" end="2"/>
                                            </p:txEl>
                                          </p:spTgt>
                                        </p:tgtEl>
                                        <p:attrNameLst>
                                          <p:attrName>style.visibility</p:attrName>
                                        </p:attrNameLst>
                                      </p:cBhvr>
                                      <p:to>
                                        <p:strVal val="visible"/>
                                      </p:to>
                                    </p:set>
                                    <p:animEffect transition="in" filter="fade">
                                      <p:cBhvr>
                                        <p:cTn id="17" dur="2500"/>
                                        <p:tgtEl>
                                          <p:spTgt spid="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
                                            <p:txEl>
                                              <p:pRg st="3" end="3"/>
                                            </p:txEl>
                                          </p:spTgt>
                                        </p:tgtEl>
                                        <p:attrNameLst>
                                          <p:attrName>style.visibility</p:attrName>
                                        </p:attrNameLst>
                                      </p:cBhvr>
                                      <p:to>
                                        <p:strVal val="visible"/>
                                      </p:to>
                                    </p:set>
                                    <p:animEffect transition="in" filter="fade">
                                      <p:cBhvr>
                                        <p:cTn id="22" dur="2500"/>
                                        <p:tgtEl>
                                          <p:spTgt spid="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5">
                                            <p:txEl>
                                              <p:pRg st="4" end="4"/>
                                            </p:txEl>
                                          </p:spTgt>
                                        </p:tgtEl>
                                        <p:attrNameLst>
                                          <p:attrName>style.visibility</p:attrName>
                                        </p:attrNameLst>
                                      </p:cBhvr>
                                      <p:to>
                                        <p:strVal val="visible"/>
                                      </p:to>
                                    </p:set>
                                    <p:animEffect transition="in" filter="fade">
                                      <p:cBhvr>
                                        <p:cTn id="27" dur="2500"/>
                                        <p:tgtEl>
                                          <p:spTgt spid="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5">
                                            <p:txEl>
                                              <p:pRg st="5" end="5"/>
                                            </p:txEl>
                                          </p:spTgt>
                                        </p:tgtEl>
                                        <p:attrNameLst>
                                          <p:attrName>style.visibility</p:attrName>
                                        </p:attrNameLst>
                                      </p:cBhvr>
                                      <p:to>
                                        <p:strVal val="visible"/>
                                      </p:to>
                                    </p:set>
                                    <p:animEffect transition="in" filter="fade">
                                      <p:cBhvr>
                                        <p:cTn id="32" dur="2500"/>
                                        <p:tgtEl>
                                          <p:spTgt spid="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5">
                                            <p:txEl>
                                              <p:pRg st="6" end="6"/>
                                            </p:txEl>
                                          </p:spTgt>
                                        </p:tgtEl>
                                        <p:attrNameLst>
                                          <p:attrName>style.visibility</p:attrName>
                                        </p:attrNameLst>
                                      </p:cBhvr>
                                      <p:to>
                                        <p:strVal val="visible"/>
                                      </p:to>
                                    </p:set>
                                    <p:animEffect transition="in" filter="fade">
                                      <p:cBhvr>
                                        <p:cTn id="37" dur="2500"/>
                                        <p:tgtEl>
                                          <p:spTgt spid="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5">
                                            <p:txEl>
                                              <p:pRg st="7" end="7"/>
                                            </p:txEl>
                                          </p:spTgt>
                                        </p:tgtEl>
                                        <p:attrNameLst>
                                          <p:attrName>style.visibility</p:attrName>
                                        </p:attrNameLst>
                                      </p:cBhvr>
                                      <p:to>
                                        <p:strVal val="visible"/>
                                      </p:to>
                                    </p:set>
                                    <p:animEffect transition="in" filter="fade">
                                      <p:cBhvr>
                                        <p:cTn id="42" dur="2500"/>
                                        <p:tgtEl>
                                          <p:spTgt spid="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5">
                                            <p:txEl>
                                              <p:pRg st="8" end="8"/>
                                            </p:txEl>
                                          </p:spTgt>
                                        </p:tgtEl>
                                        <p:attrNameLst>
                                          <p:attrName>style.visibility</p:attrName>
                                        </p:attrNameLst>
                                      </p:cBhvr>
                                      <p:to>
                                        <p:strVal val="visible"/>
                                      </p:to>
                                    </p:set>
                                    <p:animEffect transition="in" filter="fade">
                                      <p:cBhvr>
                                        <p:cTn id="47" dur="2500"/>
                                        <p:tgtEl>
                                          <p:spTgt spid="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5">
                                            <p:txEl>
                                              <p:pRg st="9" end="9"/>
                                            </p:txEl>
                                          </p:spTgt>
                                        </p:tgtEl>
                                        <p:attrNameLst>
                                          <p:attrName>style.visibility</p:attrName>
                                        </p:attrNameLst>
                                      </p:cBhvr>
                                      <p:to>
                                        <p:strVal val="visible"/>
                                      </p:to>
                                    </p:set>
                                    <p:animEffect transition="in" filter="fade">
                                      <p:cBhvr>
                                        <p:cTn id="52" dur="2500"/>
                                        <p:tgtEl>
                                          <p:spTgt spid="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5">
                                            <p:txEl>
                                              <p:pRg st="10" end="10"/>
                                            </p:txEl>
                                          </p:spTgt>
                                        </p:tgtEl>
                                        <p:attrNameLst>
                                          <p:attrName>style.visibility</p:attrName>
                                        </p:attrNameLst>
                                      </p:cBhvr>
                                      <p:to>
                                        <p:strVal val="visible"/>
                                      </p:to>
                                    </p:set>
                                    <p:animEffect transition="in" filter="fade">
                                      <p:cBhvr>
                                        <p:cTn id="57" dur="2500"/>
                                        <p:tgtEl>
                                          <p:spTgt spid="9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5">
                                            <p:txEl>
                                              <p:pRg st="11" end="11"/>
                                            </p:txEl>
                                          </p:spTgt>
                                        </p:tgtEl>
                                        <p:attrNameLst>
                                          <p:attrName>style.visibility</p:attrName>
                                        </p:attrNameLst>
                                      </p:cBhvr>
                                      <p:to>
                                        <p:strVal val="visible"/>
                                      </p:to>
                                    </p:set>
                                    <p:animEffect transition="in" filter="fade">
                                      <p:cBhvr>
                                        <p:cTn id="62" dur="2500"/>
                                        <p:tgtEl>
                                          <p:spTgt spid="9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p:nvPr/>
        </p:nvSpPr>
        <p:spPr>
          <a:xfrm>
            <a:off x="232050" y="791338"/>
            <a:ext cx="2590800" cy="2252935"/>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None/>
            </a:pPr>
            <a:r>
              <a:rPr lang="en" sz="2000" b="0" i="0" u="none" strike="noStrike" cap="none" dirty="0">
                <a:solidFill>
                  <a:srgbClr val="21299A"/>
                </a:solidFill>
                <a:latin typeface="IBM Plex Sans"/>
                <a:ea typeface="IBM Plex Sans"/>
                <a:cs typeface="IBM Plex Sans"/>
                <a:sym typeface="IBM Plex Sans"/>
              </a:rPr>
              <a:t>Use-Case - 2: </a:t>
            </a:r>
          </a:p>
          <a:p>
            <a:pPr marL="0" marR="0" lvl="0" indent="0" algn="l" rtl="0">
              <a:lnSpc>
                <a:spcPct val="90000"/>
              </a:lnSpc>
              <a:spcBef>
                <a:spcPts val="0"/>
              </a:spcBef>
              <a:spcAft>
                <a:spcPts val="0"/>
              </a:spcAft>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None/>
            </a:pPr>
            <a:r>
              <a:rPr lang="en" sz="2000" b="0" i="0" u="none" strike="noStrike" cap="none" dirty="0">
                <a:solidFill>
                  <a:schemeClr val="dk1"/>
                </a:solidFill>
                <a:latin typeface="Arial"/>
                <a:ea typeface="Arial"/>
                <a:cs typeface="Arial"/>
                <a:sym typeface="Arial"/>
              </a:rPr>
              <a:t>AI- Enabled Student Admission &amp; Support Management System</a:t>
            </a:r>
            <a:endParaRPr sz="20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1"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p:txBody>
      </p:sp>
      <p:sp>
        <p:nvSpPr>
          <p:cNvPr id="106" name="Google Shape;106;p19"/>
          <p:cNvSpPr txBox="1"/>
          <p:nvPr/>
        </p:nvSpPr>
        <p:spPr>
          <a:xfrm>
            <a:off x="3238427" y="666964"/>
            <a:ext cx="5529300" cy="33444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500"/>
              </a:spcBef>
              <a:spcAft>
                <a:spcPts val="0"/>
              </a:spcAft>
              <a:buClr>
                <a:srgbClr val="000000"/>
              </a:buClr>
              <a:buSzPts val="1400"/>
              <a:buFont typeface="Arial"/>
              <a:buNone/>
            </a:pPr>
            <a:r>
              <a:rPr lang="en" sz="1400" b="1" i="0" u="none" strike="noStrike" cap="none" dirty="0">
                <a:solidFill>
                  <a:srgbClr val="21299A"/>
                </a:solidFill>
                <a:latin typeface="IBM Plex Sans"/>
                <a:ea typeface="IBM Plex Sans"/>
                <a:cs typeface="IBM Plex Sans"/>
                <a:sym typeface="IBM Plex Sans"/>
              </a:rPr>
              <a:t>Project Problem Statement</a:t>
            </a:r>
            <a:r>
              <a:rPr lang="en" sz="1400" b="0" i="0" u="none" strike="noStrike" cap="none" dirty="0">
                <a:solidFill>
                  <a:schemeClr val="dk1"/>
                </a:solidFill>
                <a:latin typeface="IBM Plex Sans"/>
                <a:ea typeface="IBM Plex Sans"/>
                <a:cs typeface="IBM Plex Sans"/>
                <a:sym typeface="IBM Plex Sans"/>
              </a:rPr>
              <a:t> :</a:t>
            </a:r>
            <a:endParaRPr sz="1400" b="0" i="0" u="none" strike="noStrike" cap="none" dirty="0">
              <a:solidFill>
                <a:schemeClr val="dk1"/>
              </a:solidFill>
              <a:latin typeface="IBM Plex Sans"/>
              <a:ea typeface="IBM Plex Sans"/>
              <a:cs typeface="IBM Plex Sans"/>
              <a:sym typeface="IBM Plex Sans"/>
            </a:endParaRPr>
          </a:p>
          <a:p>
            <a:r>
              <a:rPr lang="en" sz="1400" b="0" i="0" u="none" strike="noStrike" cap="none" dirty="0">
                <a:solidFill>
                  <a:srgbClr val="374151"/>
                </a:solidFill>
                <a:highlight>
                  <a:srgbClr val="FFFFFF"/>
                </a:highlight>
                <a:latin typeface="IBM Plex Sans"/>
                <a:ea typeface="IBM Plex Sans"/>
                <a:cs typeface="IBM Plex Sans"/>
                <a:sym typeface="IBM Plex Sans"/>
              </a:rPr>
              <a:t> </a:t>
            </a:r>
            <a:r>
              <a:rPr lang="en-US" dirty="0">
                <a:highlight>
                  <a:srgbClr val="FFFFFF"/>
                </a:highlight>
              </a:rPr>
              <a:t>Educational institutions often struggle to manage student admissions efficiently due to fragmented data, manual prioritization, delayed approvals, and lack of intelligent insights. Admission teams rely heavily on spreadsheets, emails, and manual decision-making, which leads to inconsistent evaluation of applications, delayed responses to high-value candidates, and inefficient handling of discount approvals and risk cases.</a:t>
            </a:r>
          </a:p>
          <a:p>
            <a:r>
              <a:rPr lang="en-US" dirty="0">
                <a:highlight>
                  <a:srgbClr val="FFFFFF"/>
                </a:highlight>
              </a:rPr>
              <a:t>The absence of centralized automation and AI-driven recommendations makes it difficult for counselors and managers to identify priority students, assess enrollment risks, and make timely approval decisions. As application volumes grow, institutions require a scalable, intelligent system that can streamline admissions workflows, automate approvals, and provide real-time insights to support proactive and data-driven decision-making.</a:t>
            </a:r>
          </a:p>
          <a:p>
            <a:r>
              <a:rPr lang="en-US" dirty="0">
                <a:highlight>
                  <a:srgbClr val="FFFFFF"/>
                </a:highlight>
              </a:rPr>
              <a:t>The AI-Enabled Student Admissions &amp; Support Management System addresses these challenges by centralizing student enrollment data, automating admission workflows, and embedding AI-powered prioritization and risk analysis directly into the Salesforce platform.</a:t>
            </a:r>
          </a:p>
          <a:p>
            <a:pPr marL="0" marR="0" lvl="0" indent="0" algn="l" rtl="0">
              <a:lnSpc>
                <a:spcPct val="115000"/>
              </a:lnSpc>
              <a:spcBef>
                <a:spcPts val="1100"/>
              </a:spcBef>
              <a:spcAft>
                <a:spcPts val="0"/>
              </a:spcAft>
              <a:buClr>
                <a:srgbClr val="000000"/>
              </a:buClr>
              <a:buSzPts val="700"/>
              <a:buFont typeface="Arial"/>
              <a:buNone/>
            </a:pPr>
            <a:endParaRPr sz="700" b="0" i="0" u="none" strike="noStrike" cap="none" dirty="0">
              <a:solidFill>
                <a:srgbClr val="000000"/>
              </a:solidFill>
              <a:latin typeface="Arial"/>
              <a:ea typeface="Arial"/>
              <a:cs typeface="Arial"/>
              <a:sym typeface="Arial"/>
            </a:endParaRPr>
          </a:p>
          <a:p>
            <a:pPr marL="0" marR="0" lvl="0" indent="0" algn="l" rtl="0">
              <a:lnSpc>
                <a:spcPct val="115000"/>
              </a:lnSpc>
              <a:spcBef>
                <a:spcPts val="1100"/>
              </a:spcBef>
              <a:spcAft>
                <a:spcPts val="0"/>
              </a:spcAft>
              <a:buClr>
                <a:srgbClr val="000000"/>
              </a:buClr>
              <a:buSzPts val="1200"/>
              <a:buFont typeface="Arial"/>
              <a:buNone/>
            </a:pPr>
            <a:endParaRPr sz="1200" b="0" i="0" u="none" strike="noStrike" cap="none" dirty="0">
              <a:solidFill>
                <a:schemeClr val="dk1"/>
              </a:solidFill>
              <a:latin typeface="IBM Plex Sans"/>
              <a:ea typeface="IBM Plex Sans"/>
              <a:cs typeface="IBM Plex Sans"/>
              <a:sym typeface="IBM Plex Sans"/>
            </a:endParaRPr>
          </a:p>
        </p:txBody>
      </p:sp>
      <p:sp>
        <p:nvSpPr>
          <p:cNvPr id="107" name="Google Shape;107;p19"/>
          <p:cNvSpPr txBox="1"/>
          <p:nvPr/>
        </p:nvSpPr>
        <p:spPr>
          <a:xfrm>
            <a:off x="514350" y="48940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09" name="Google Shape;109;p19"/>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2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
                                            <p:txEl>
                                              <p:pRg st="0" end="0"/>
                                            </p:txEl>
                                          </p:spTgt>
                                        </p:tgtEl>
                                        <p:attrNameLst>
                                          <p:attrName>style.visibility</p:attrName>
                                        </p:attrNameLst>
                                      </p:cBhvr>
                                      <p:to>
                                        <p:strVal val="visible"/>
                                      </p:to>
                                    </p:set>
                                    <p:animEffect transition="in" filter="fade">
                                      <p:cBhvr>
                                        <p:cTn id="12" dur="2500"/>
                                        <p:tgtEl>
                                          <p:spTgt spid="10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6">
                                            <p:txEl>
                                              <p:pRg st="1" end="1"/>
                                            </p:txEl>
                                          </p:spTgt>
                                        </p:tgtEl>
                                        <p:attrNameLst>
                                          <p:attrName>style.visibility</p:attrName>
                                        </p:attrNameLst>
                                      </p:cBhvr>
                                      <p:to>
                                        <p:strVal val="visible"/>
                                      </p:to>
                                    </p:set>
                                    <p:animEffect transition="in" filter="fade">
                                      <p:cBhvr>
                                        <p:cTn id="17" dur="2500"/>
                                        <p:tgtEl>
                                          <p:spTgt spid="10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6">
                                            <p:txEl>
                                              <p:pRg st="2" end="2"/>
                                            </p:txEl>
                                          </p:spTgt>
                                        </p:tgtEl>
                                        <p:attrNameLst>
                                          <p:attrName>style.visibility</p:attrName>
                                        </p:attrNameLst>
                                      </p:cBhvr>
                                      <p:to>
                                        <p:strVal val="visible"/>
                                      </p:to>
                                    </p:set>
                                    <p:animEffect transition="in" filter="fade">
                                      <p:cBhvr>
                                        <p:cTn id="22" dur="2500"/>
                                        <p:tgtEl>
                                          <p:spTgt spid="10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6">
                                            <p:txEl>
                                              <p:pRg st="3" end="3"/>
                                            </p:txEl>
                                          </p:spTgt>
                                        </p:tgtEl>
                                        <p:attrNameLst>
                                          <p:attrName>style.visibility</p:attrName>
                                        </p:attrNameLst>
                                      </p:cBhvr>
                                      <p:to>
                                        <p:strVal val="visible"/>
                                      </p:to>
                                    </p:set>
                                    <p:animEffect transition="in" filter="fade">
                                      <p:cBhvr>
                                        <p:cTn id="27" dur="2500"/>
                                        <p:tgtEl>
                                          <p:spTgt spid="1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13"/>
        <p:cNvGrpSpPr/>
        <p:nvPr/>
      </p:nvGrpSpPr>
      <p:grpSpPr>
        <a:xfrm>
          <a:off x="0" y="0"/>
          <a:ext cx="0" cy="0"/>
          <a:chOff x="0" y="0"/>
          <a:chExt cx="0" cy="0"/>
        </a:xfrm>
      </p:grpSpPr>
      <p:sp>
        <p:nvSpPr>
          <p:cNvPr id="114" name="Google Shape;114;p20"/>
          <p:cNvSpPr/>
          <p:nvPr/>
        </p:nvSpPr>
        <p:spPr>
          <a:xfrm>
            <a:off x="3361175" y="639050"/>
            <a:ext cx="5310188" cy="4051125"/>
          </a:xfrm>
          <a:custGeom>
            <a:avLst/>
            <a:gdLst/>
            <a:ahLst/>
            <a:cxnLst/>
            <a:rect l="l" t="t" r="r" b="b"/>
            <a:pathLst>
              <a:path w="10620375" h="7753350" extrusionOk="0">
                <a:moveTo>
                  <a:pt x="10179749" y="7753334"/>
                </a:moveTo>
                <a:lnTo>
                  <a:pt x="440625" y="7753334"/>
                </a:lnTo>
                <a:lnTo>
                  <a:pt x="392469" y="7750761"/>
                </a:lnTo>
                <a:lnTo>
                  <a:pt x="345851" y="7743218"/>
                </a:lnTo>
                <a:lnTo>
                  <a:pt x="301035" y="7730968"/>
                </a:lnTo>
                <a:lnTo>
                  <a:pt x="258284" y="7714277"/>
                </a:lnTo>
                <a:lnTo>
                  <a:pt x="217864" y="7693408"/>
                </a:lnTo>
                <a:lnTo>
                  <a:pt x="180039" y="7668626"/>
                </a:lnTo>
                <a:lnTo>
                  <a:pt x="145073" y="7640194"/>
                </a:lnTo>
                <a:lnTo>
                  <a:pt x="113230" y="7608377"/>
                </a:lnTo>
                <a:lnTo>
                  <a:pt x="84776" y="7573439"/>
                </a:lnTo>
                <a:lnTo>
                  <a:pt x="59973" y="7535645"/>
                </a:lnTo>
                <a:lnTo>
                  <a:pt x="39088" y="7495257"/>
                </a:lnTo>
                <a:lnTo>
                  <a:pt x="22383" y="7452541"/>
                </a:lnTo>
                <a:lnTo>
                  <a:pt x="10124" y="7407761"/>
                </a:lnTo>
                <a:lnTo>
                  <a:pt x="2575" y="7361180"/>
                </a:lnTo>
                <a:lnTo>
                  <a:pt x="0" y="7313064"/>
                </a:lnTo>
                <a:lnTo>
                  <a:pt x="0" y="440270"/>
                </a:lnTo>
                <a:lnTo>
                  <a:pt x="2575" y="392153"/>
                </a:lnTo>
                <a:lnTo>
                  <a:pt x="10124" y="345573"/>
                </a:lnTo>
                <a:lnTo>
                  <a:pt x="22383" y="300792"/>
                </a:lnTo>
                <a:lnTo>
                  <a:pt x="39088" y="258076"/>
                </a:lnTo>
                <a:lnTo>
                  <a:pt x="59973" y="217689"/>
                </a:lnTo>
                <a:lnTo>
                  <a:pt x="84776" y="179894"/>
                </a:lnTo>
                <a:lnTo>
                  <a:pt x="113230" y="144956"/>
                </a:lnTo>
                <a:lnTo>
                  <a:pt x="145073" y="113139"/>
                </a:lnTo>
                <a:lnTo>
                  <a:pt x="180039" y="84708"/>
                </a:lnTo>
                <a:lnTo>
                  <a:pt x="217864" y="59925"/>
                </a:lnTo>
                <a:lnTo>
                  <a:pt x="258284" y="39056"/>
                </a:lnTo>
                <a:lnTo>
                  <a:pt x="301035" y="22365"/>
                </a:lnTo>
                <a:lnTo>
                  <a:pt x="345851" y="10116"/>
                </a:lnTo>
                <a:lnTo>
                  <a:pt x="392469" y="2573"/>
                </a:lnTo>
                <a:lnTo>
                  <a:pt x="440625" y="0"/>
                </a:lnTo>
                <a:lnTo>
                  <a:pt x="10179749" y="0"/>
                </a:lnTo>
                <a:lnTo>
                  <a:pt x="10227904" y="2573"/>
                </a:lnTo>
                <a:lnTo>
                  <a:pt x="10274522" y="10116"/>
                </a:lnTo>
                <a:lnTo>
                  <a:pt x="10319339" y="22365"/>
                </a:lnTo>
                <a:lnTo>
                  <a:pt x="10362089" y="39056"/>
                </a:lnTo>
                <a:lnTo>
                  <a:pt x="10402509" y="59925"/>
                </a:lnTo>
                <a:lnTo>
                  <a:pt x="10440334" y="84708"/>
                </a:lnTo>
                <a:lnTo>
                  <a:pt x="10475300" y="113139"/>
                </a:lnTo>
                <a:lnTo>
                  <a:pt x="10507143" y="144956"/>
                </a:lnTo>
                <a:lnTo>
                  <a:pt x="10535598" y="179894"/>
                </a:lnTo>
                <a:lnTo>
                  <a:pt x="10560400" y="217689"/>
                </a:lnTo>
                <a:lnTo>
                  <a:pt x="10581286" y="258076"/>
                </a:lnTo>
                <a:lnTo>
                  <a:pt x="10597990" y="300792"/>
                </a:lnTo>
                <a:lnTo>
                  <a:pt x="10610249" y="345573"/>
                </a:lnTo>
                <a:lnTo>
                  <a:pt x="10617799" y="392153"/>
                </a:lnTo>
                <a:lnTo>
                  <a:pt x="10620374" y="440270"/>
                </a:lnTo>
                <a:lnTo>
                  <a:pt x="10620374" y="7313064"/>
                </a:lnTo>
                <a:lnTo>
                  <a:pt x="10617799" y="7361180"/>
                </a:lnTo>
                <a:lnTo>
                  <a:pt x="10610249" y="7407761"/>
                </a:lnTo>
                <a:lnTo>
                  <a:pt x="10597990" y="7452541"/>
                </a:lnTo>
                <a:lnTo>
                  <a:pt x="10581286" y="7495257"/>
                </a:lnTo>
                <a:lnTo>
                  <a:pt x="10560400" y="7535645"/>
                </a:lnTo>
                <a:lnTo>
                  <a:pt x="10535598" y="7573439"/>
                </a:lnTo>
                <a:lnTo>
                  <a:pt x="10507143" y="7608377"/>
                </a:lnTo>
                <a:lnTo>
                  <a:pt x="10475300" y="7640194"/>
                </a:lnTo>
                <a:lnTo>
                  <a:pt x="10440334" y="7668626"/>
                </a:lnTo>
                <a:lnTo>
                  <a:pt x="10402509" y="7693408"/>
                </a:lnTo>
                <a:lnTo>
                  <a:pt x="10362089" y="7714277"/>
                </a:lnTo>
                <a:lnTo>
                  <a:pt x="10319339" y="7730968"/>
                </a:lnTo>
                <a:lnTo>
                  <a:pt x="10274522" y="7743218"/>
                </a:lnTo>
                <a:lnTo>
                  <a:pt x="10227904" y="7750761"/>
                </a:lnTo>
                <a:lnTo>
                  <a:pt x="10179749" y="7753334"/>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15" name="Google Shape;115;p20"/>
          <p:cNvSpPr txBox="1"/>
          <p:nvPr/>
        </p:nvSpPr>
        <p:spPr>
          <a:xfrm>
            <a:off x="3361175" y="606150"/>
            <a:ext cx="5061000" cy="39312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Social Impact: </a:t>
            </a:r>
          </a:p>
          <a:p>
            <a:pPr marL="0" marR="0" lvl="0" indent="0" algn="l" rtl="0">
              <a:lnSpc>
                <a:spcPct val="115000"/>
              </a:lnSpc>
              <a:spcBef>
                <a:spcPts val="0"/>
              </a:spcBef>
              <a:spcAft>
                <a:spcPts val="0"/>
              </a:spcAft>
              <a:buClr>
                <a:srgbClr val="000000"/>
              </a:buClr>
              <a:buSzPts val="1000"/>
              <a:buFont typeface="Arial"/>
              <a:buNone/>
            </a:pPr>
            <a:endParaRPr sz="1000" b="1" i="0" u="none" strike="noStrike" cap="none" dirty="0">
              <a:solidFill>
                <a:srgbClr val="2129A5"/>
              </a:solidFill>
              <a:highlight>
                <a:srgbClr val="F1F1F1"/>
              </a:highlight>
              <a:latin typeface="IBM Plex Sans"/>
              <a:ea typeface="IBM Plex Sans"/>
              <a:cs typeface="IBM Plex Sans"/>
              <a:sym typeface="IBM Plex Sans"/>
            </a:endParaRPr>
          </a:p>
          <a:p>
            <a:r>
              <a:rPr lang="en-US" sz="1000" dirty="0"/>
              <a:t>Improves access to education by ensuring fair and faster admission decisions.</a:t>
            </a:r>
            <a:br>
              <a:rPr lang="en-US" sz="1000" dirty="0"/>
            </a:br>
            <a:r>
              <a:rPr lang="en-US" sz="1000" dirty="0"/>
              <a:t>Reduces human bias through AI-assisted evaluation.</a:t>
            </a:r>
            <a:br>
              <a:rPr lang="en-US" sz="1000" dirty="0"/>
            </a:br>
            <a:r>
              <a:rPr lang="en-US" sz="1000" dirty="0"/>
              <a:t>Enhances student experience with timely communication and support.</a:t>
            </a:r>
          </a:p>
          <a:p>
            <a:pPr marL="0" marR="0" lvl="0" indent="0" algn="l" rtl="0">
              <a:lnSpc>
                <a:spcPct val="115000"/>
              </a:lnSpc>
              <a:spcBef>
                <a:spcPts val="11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Business Model /Impact: </a:t>
            </a:r>
            <a:endParaRPr sz="1000" b="1" i="0" u="none" strike="noStrike" cap="none" dirty="0">
              <a:solidFill>
                <a:srgbClr val="2129A5"/>
              </a:solidFill>
              <a:highlight>
                <a:srgbClr val="F1F1F1"/>
              </a:highlight>
              <a:latin typeface="IBM Plex Sans"/>
              <a:ea typeface="IBM Plex Sans"/>
              <a:cs typeface="IBM Plex Sans"/>
              <a:sym typeface="IBM Plex Sans"/>
            </a:endParaRPr>
          </a:p>
          <a:p>
            <a:pPr lvl="0">
              <a:lnSpc>
                <a:spcPct val="115000"/>
              </a:lnSpc>
              <a:spcBef>
                <a:spcPts val="1100"/>
              </a:spcBef>
              <a:buSzPts val="1000"/>
            </a:pPr>
            <a:r>
              <a:rPr lang="en-US" sz="1000" dirty="0"/>
              <a:t>Accelerates admission processing and approvals.</a:t>
            </a:r>
            <a:br>
              <a:rPr lang="en-US" sz="1000" dirty="0"/>
            </a:br>
            <a:r>
              <a:rPr lang="en-US" sz="1000" dirty="0"/>
              <a:t>Increases enrollment conversion rates.</a:t>
            </a:r>
            <a:br>
              <a:rPr lang="en-US" sz="1000" dirty="0"/>
            </a:br>
            <a:r>
              <a:rPr lang="en-US" sz="1000" dirty="0"/>
              <a:t>Reduces operational workload for admission teams.</a:t>
            </a:r>
            <a:endParaRPr sz="1100" u="sng" dirty="0">
              <a:solidFill>
                <a:srgbClr val="0563C1"/>
              </a:solidFill>
              <a:latin typeface="IBM Plex Sans"/>
              <a:ea typeface="IBM Plex Sans"/>
              <a:cs typeface="IBM Plex Sans"/>
              <a:sym typeface="IBM Plex Sans"/>
            </a:endParaRPr>
          </a:p>
          <a:p>
            <a:pPr marL="0" marR="0" lvl="0" indent="0" algn="l" rtl="0">
              <a:lnSpc>
                <a:spcPct val="90000"/>
              </a:lnSpc>
              <a:spcBef>
                <a:spcPts val="10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Roboto"/>
                <a:ea typeface="Roboto"/>
                <a:cs typeface="Roboto"/>
                <a:sym typeface="Roboto"/>
              </a:rPr>
              <a:t>Recommended Technology Stacks :</a:t>
            </a:r>
          </a:p>
          <a:p>
            <a:pPr lvl="0">
              <a:lnSpc>
                <a:spcPct val="90000"/>
              </a:lnSpc>
              <a:spcBef>
                <a:spcPts val="1000"/>
              </a:spcBef>
              <a:buSzPts val="1000"/>
            </a:pPr>
            <a:r>
              <a:rPr lang="en-IN" sz="1000" dirty="0"/>
              <a:t>Salesforce Platform</a:t>
            </a:r>
            <a:br>
              <a:rPr lang="en-IN" sz="1000" dirty="0"/>
            </a:br>
            <a:r>
              <a:rPr lang="en-IN" sz="1000" dirty="0"/>
              <a:t>Salesforce Flows &amp; Approval Processes</a:t>
            </a:r>
            <a:br>
              <a:rPr lang="en-IN" sz="1000" dirty="0"/>
            </a:br>
            <a:r>
              <a:rPr lang="en-IN" sz="1000" dirty="0"/>
              <a:t>Agentforce AI</a:t>
            </a:r>
            <a:br>
              <a:rPr lang="en-IN" sz="1000" dirty="0"/>
            </a:br>
            <a:r>
              <a:rPr lang="en-IN" sz="1000" dirty="0"/>
              <a:t>Lightning Experience</a:t>
            </a:r>
            <a:endParaRPr lang="en" sz="1000" b="1" i="0" u="none" strike="noStrike" cap="none" dirty="0">
              <a:solidFill>
                <a:srgbClr val="2129A5"/>
              </a:solidFill>
              <a:highlight>
                <a:srgbClr val="F1F1F1"/>
              </a:highlight>
              <a:latin typeface="Roboto"/>
              <a:ea typeface="Roboto"/>
              <a:cs typeface="Roboto"/>
              <a:sym typeface="Roboto"/>
            </a:endParaRPr>
          </a:p>
          <a:p>
            <a:pPr marL="0" marR="0" lvl="0" indent="0" algn="l" rtl="0">
              <a:lnSpc>
                <a:spcPct val="100000"/>
              </a:lnSpc>
              <a:spcBef>
                <a:spcPts val="1400"/>
              </a:spcBef>
              <a:spcAft>
                <a:spcPts val="0"/>
              </a:spcAft>
              <a:buClr>
                <a:srgbClr val="000000"/>
              </a:buClr>
              <a:buSzPts val="1000"/>
              <a:buFont typeface="Arial"/>
              <a:buNone/>
            </a:pPr>
            <a:endParaRPr sz="1000" b="0" i="0" u="none" strike="noStrike" cap="none" dirty="0">
              <a:solidFill>
                <a:schemeClr val="dk1"/>
              </a:solidFill>
              <a:highlight>
                <a:srgbClr val="F1F1F1"/>
              </a:highlight>
              <a:latin typeface="Roboto"/>
              <a:ea typeface="Roboto"/>
              <a:cs typeface="Roboto"/>
              <a:sym typeface="Roboto"/>
            </a:endParaRPr>
          </a:p>
          <a:p>
            <a:pPr marL="0" marR="0" lvl="0" indent="0" algn="l" rtl="0">
              <a:lnSpc>
                <a:spcPct val="100000"/>
              </a:lnSpc>
              <a:spcBef>
                <a:spcPts val="1400"/>
              </a:spcBef>
              <a:spcAft>
                <a:spcPts val="0"/>
              </a:spcAft>
              <a:buClr>
                <a:srgbClr val="000000"/>
              </a:buClr>
              <a:buSzPts val="1000"/>
              <a:buFont typeface="Arial"/>
              <a:buNone/>
            </a:pPr>
            <a:endParaRPr sz="1000" b="0" i="0" u="none" strike="noStrike" cap="none" dirty="0">
              <a:solidFill>
                <a:schemeClr val="dk1"/>
              </a:solidFill>
              <a:highlight>
                <a:srgbClr val="F1F1F1"/>
              </a:highlight>
              <a:latin typeface="Roboto"/>
              <a:ea typeface="Roboto"/>
              <a:cs typeface="Roboto"/>
              <a:sym typeface="Roboto"/>
            </a:endParaRPr>
          </a:p>
          <a:p>
            <a:pPr marL="0" marR="0" lvl="0" indent="0" algn="l" rtl="0">
              <a:lnSpc>
                <a:spcPct val="115000"/>
              </a:lnSpc>
              <a:spcBef>
                <a:spcPts val="400"/>
              </a:spcBef>
              <a:spcAft>
                <a:spcPts val="0"/>
              </a:spcAft>
              <a:buClr>
                <a:schemeClr val="dk1"/>
              </a:buClr>
              <a:buSzPts val="800"/>
              <a:buFont typeface="Arial"/>
              <a:buNone/>
            </a:pPr>
            <a:endParaRPr sz="1000" b="0" i="0" u="none" strike="noStrike" cap="none" dirty="0">
              <a:solidFill>
                <a:srgbClr val="374151"/>
              </a:solidFill>
              <a:highlight>
                <a:schemeClr val="lt2"/>
              </a:highlight>
              <a:latin typeface="Roboto"/>
              <a:ea typeface="Roboto"/>
              <a:cs typeface="Roboto"/>
              <a:sym typeface="Roboto"/>
            </a:endParaRPr>
          </a:p>
          <a:p>
            <a:pPr marL="0" marR="0" lvl="0" indent="0" algn="l" rtl="0">
              <a:lnSpc>
                <a:spcPct val="115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0" marR="0" lvl="0" indent="0" algn="l" rtl="0">
              <a:lnSpc>
                <a:spcPct val="115000"/>
              </a:lnSpc>
              <a:spcBef>
                <a:spcPts val="0"/>
              </a:spcBef>
              <a:spcAft>
                <a:spcPts val="0"/>
              </a:spcAft>
              <a:buClr>
                <a:srgbClr val="000000"/>
              </a:buClr>
              <a:buSzPts val="1000"/>
              <a:buFont typeface="Arial"/>
              <a:buNone/>
            </a:pPr>
            <a:endParaRPr sz="1000" b="0" i="0" u="none" strike="noStrike" cap="none" dirty="0">
              <a:solidFill>
                <a:srgbClr val="37415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rgbClr val="000000"/>
              </a:buClr>
              <a:buSzPts val="1000"/>
              <a:buFont typeface="Arial"/>
              <a:buNone/>
            </a:pPr>
            <a:endParaRPr sz="1000" b="0" i="0" u="none" strike="noStrike" cap="none" dirty="0">
              <a:solidFill>
                <a:srgbClr val="000000"/>
              </a:solidFill>
              <a:highlight>
                <a:schemeClr val="lt2"/>
              </a:highlight>
              <a:latin typeface="IBM Plex Sans"/>
              <a:ea typeface="IBM Plex Sans"/>
              <a:cs typeface="IBM Plex Sans"/>
              <a:sym typeface="IBM Plex Sans"/>
            </a:endParaRPr>
          </a:p>
        </p:txBody>
      </p:sp>
      <p:sp>
        <p:nvSpPr>
          <p:cNvPr id="116" name="Google Shape;116;p20"/>
          <p:cNvSpPr txBox="1"/>
          <p:nvPr/>
        </p:nvSpPr>
        <p:spPr>
          <a:xfrm>
            <a:off x="211600" y="729063"/>
            <a:ext cx="2590800" cy="2311412"/>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- 2: </a:t>
            </a:r>
          </a:p>
          <a:p>
            <a:pPr marL="0" marR="0" lvl="0" indent="0" algn="l" rtl="0">
              <a:lnSpc>
                <a:spcPct val="90000"/>
              </a:lnSpc>
              <a:spcBef>
                <a:spcPts val="0"/>
              </a:spcBef>
              <a:spcAft>
                <a:spcPts val="0"/>
              </a:spcAft>
              <a:buClr>
                <a:srgbClr val="000000"/>
              </a:buClr>
              <a:buSzPts val="2000"/>
              <a:buFont typeface="Arial"/>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chemeClr val="dk1"/>
                </a:solidFill>
                <a:latin typeface="Arial"/>
                <a:ea typeface="Arial"/>
                <a:cs typeface="Arial"/>
                <a:sym typeface="Arial"/>
              </a:rPr>
              <a:t>AI- Powered Student Admission &amp; Support Management System</a:t>
            </a:r>
            <a:endParaRPr sz="20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1"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p:txBody>
      </p:sp>
      <p:sp>
        <p:nvSpPr>
          <p:cNvPr id="117" name="Google Shape;117;p20"/>
          <p:cNvSpPr txBox="1"/>
          <p:nvPr/>
        </p:nvSpPr>
        <p:spPr>
          <a:xfrm>
            <a:off x="514350" y="47416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19" name="Google Shape;119;p20"/>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Effect transition="in" filter="fade">
                                      <p:cBhvr>
                                        <p:cTn id="7" dur="2500"/>
                                        <p:tgtEl>
                                          <p:spTgt spid="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
                                            <p:txEl>
                                              <p:pRg st="3" end="3"/>
                                            </p:txEl>
                                          </p:spTgt>
                                        </p:tgtEl>
                                        <p:attrNameLst>
                                          <p:attrName>style.visibility</p:attrName>
                                        </p:attrNameLst>
                                      </p:cBhvr>
                                      <p:to>
                                        <p:strVal val="visible"/>
                                      </p:to>
                                    </p:set>
                                    <p:animEffect transition="in" filter="fade">
                                      <p:cBhvr>
                                        <p:cTn id="12" dur="2500"/>
                                        <p:tgtEl>
                                          <p:spTgt spid="11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5">
                                            <p:txEl>
                                              <p:pRg st="2" end="2"/>
                                            </p:txEl>
                                          </p:spTgt>
                                        </p:tgtEl>
                                        <p:attrNameLst>
                                          <p:attrName>style.visibility</p:attrName>
                                        </p:attrNameLst>
                                      </p:cBhvr>
                                      <p:to>
                                        <p:strVal val="visible"/>
                                      </p:to>
                                    </p:set>
                                    <p:animEffect transition="in" filter="fade">
                                      <p:cBhvr>
                                        <p:cTn id="17" dur="2500"/>
                                        <p:tgtEl>
                                          <p:spTgt spid="1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5">
                                            <p:txEl>
                                              <p:pRg st="4" end="4"/>
                                            </p:txEl>
                                          </p:spTgt>
                                        </p:tgtEl>
                                        <p:attrNameLst>
                                          <p:attrName>style.visibility</p:attrName>
                                        </p:attrNameLst>
                                      </p:cBhvr>
                                      <p:to>
                                        <p:strVal val="visible"/>
                                      </p:to>
                                    </p:set>
                                    <p:animEffect transition="in" filter="fade">
                                      <p:cBhvr>
                                        <p:cTn id="22" dur="2500"/>
                                        <p:tgtEl>
                                          <p:spTgt spid="1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5">
                                            <p:txEl>
                                              <p:pRg st="5" end="5"/>
                                            </p:txEl>
                                          </p:spTgt>
                                        </p:tgtEl>
                                        <p:attrNameLst>
                                          <p:attrName>style.visibility</p:attrName>
                                        </p:attrNameLst>
                                      </p:cBhvr>
                                      <p:to>
                                        <p:strVal val="visible"/>
                                      </p:to>
                                    </p:set>
                                    <p:animEffect transition="in" filter="fade">
                                      <p:cBhvr>
                                        <p:cTn id="27" dur="2500"/>
                                        <p:tgtEl>
                                          <p:spTgt spid="11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5">
                                            <p:txEl>
                                              <p:pRg st="6" end="6"/>
                                            </p:txEl>
                                          </p:spTgt>
                                        </p:tgtEl>
                                        <p:attrNameLst>
                                          <p:attrName>style.visibility</p:attrName>
                                        </p:attrNameLst>
                                      </p:cBhvr>
                                      <p:to>
                                        <p:strVal val="visible"/>
                                      </p:to>
                                    </p:set>
                                    <p:animEffect transition="in" filter="fade">
                                      <p:cBhvr>
                                        <p:cTn id="32" dur="2500"/>
                                        <p:tgtEl>
                                          <p:spTgt spid="1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p:nvPr/>
        </p:nvSpPr>
        <p:spPr>
          <a:xfrm>
            <a:off x="128150" y="729066"/>
            <a:ext cx="2590800" cy="1754337"/>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None/>
            </a:pPr>
            <a:r>
              <a:rPr lang="en" sz="2000" b="0" i="0" u="none" strike="noStrike" cap="none" dirty="0">
                <a:solidFill>
                  <a:srgbClr val="21299A"/>
                </a:solidFill>
                <a:latin typeface="IBM Plex Sans"/>
                <a:ea typeface="IBM Plex Sans"/>
                <a:cs typeface="IBM Plex Sans"/>
                <a:sym typeface="IBM Plex Sans"/>
              </a:rPr>
              <a:t>Use-Case - 3: </a:t>
            </a:r>
          </a:p>
          <a:p>
            <a:pPr marL="0" marR="0" lvl="0" indent="0" algn="l" rtl="0">
              <a:lnSpc>
                <a:spcPct val="90000"/>
              </a:lnSpc>
              <a:spcBef>
                <a:spcPts val="0"/>
              </a:spcBef>
              <a:spcAft>
                <a:spcPts val="0"/>
              </a:spcAft>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None/>
            </a:pPr>
            <a:r>
              <a:rPr lang="en" sz="2000" b="0" i="0" u="none" strike="noStrike" cap="none" dirty="0">
                <a:solidFill>
                  <a:schemeClr val="dk1"/>
                </a:solidFill>
                <a:latin typeface="Arial"/>
                <a:ea typeface="Arial"/>
                <a:cs typeface="Arial"/>
                <a:sym typeface="Arial"/>
              </a:rPr>
              <a:t>AI- Powered Job Recruitment &amp; Candidate Management System</a:t>
            </a:r>
            <a:endParaRPr sz="2000" b="0" i="0" u="none" strike="noStrike" cap="none" dirty="0">
              <a:solidFill>
                <a:srgbClr val="000000"/>
              </a:solidFill>
              <a:latin typeface="IBM Plex Sans"/>
              <a:ea typeface="IBM Plex Sans"/>
              <a:cs typeface="IBM Plex Sans"/>
              <a:sym typeface="IBM Plex Sans"/>
            </a:endParaRPr>
          </a:p>
        </p:txBody>
      </p:sp>
      <p:sp>
        <p:nvSpPr>
          <p:cNvPr id="125" name="Google Shape;125;p21"/>
          <p:cNvSpPr txBox="1"/>
          <p:nvPr/>
        </p:nvSpPr>
        <p:spPr>
          <a:xfrm>
            <a:off x="3238425" y="657050"/>
            <a:ext cx="5529300" cy="41076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500"/>
              </a:spcBef>
              <a:spcAft>
                <a:spcPts val="0"/>
              </a:spcAft>
              <a:buClr>
                <a:srgbClr val="000000"/>
              </a:buClr>
              <a:buSzPts val="1700"/>
              <a:buFont typeface="Arial"/>
              <a:buNone/>
            </a:pPr>
            <a:r>
              <a:rPr lang="en" sz="1700" b="1" i="0" u="none" strike="noStrike" cap="none" dirty="0">
                <a:solidFill>
                  <a:srgbClr val="21299A"/>
                </a:solidFill>
                <a:latin typeface="IBM Plex Sans"/>
                <a:ea typeface="IBM Plex Sans"/>
                <a:cs typeface="IBM Plex Sans"/>
                <a:sym typeface="IBM Plex Sans"/>
              </a:rPr>
              <a:t>Project Problem Statement</a:t>
            </a:r>
            <a:r>
              <a:rPr lang="en" sz="1700" b="0" i="0" u="none" strike="noStrike" cap="none" dirty="0">
                <a:solidFill>
                  <a:schemeClr val="dk1"/>
                </a:solidFill>
                <a:latin typeface="IBM Plex Sans"/>
                <a:ea typeface="IBM Plex Sans"/>
                <a:cs typeface="IBM Plex Sans"/>
                <a:sym typeface="IBM Plex Sans"/>
              </a:rPr>
              <a:t> :</a:t>
            </a:r>
            <a:endParaRPr sz="1700" b="0" i="0" u="none" strike="noStrike" cap="none" dirty="0">
              <a:solidFill>
                <a:schemeClr val="dk1"/>
              </a:solidFill>
              <a:latin typeface="IBM Plex Sans"/>
              <a:ea typeface="IBM Plex Sans"/>
              <a:cs typeface="IBM Plex Sans"/>
              <a:sym typeface="IBM Plex Sans"/>
            </a:endParaRPr>
          </a:p>
          <a:p>
            <a:r>
              <a:rPr lang="en-US" dirty="0">
                <a:highlight>
                  <a:srgbClr val="FFFFFF"/>
                </a:highlight>
              </a:rPr>
              <a:t>Modern organizations receive hundreds of job applications across multiple channels, making recruitment complex, slow, and inconsistent. Recruiters often rely on spreadsheets, emails, and manual screening processes, which leads to duplicate candidate records, delayed interview scheduling, subjective hiring decisions, and poor visibility into recruitment performance.</a:t>
            </a:r>
          </a:p>
          <a:p>
            <a:r>
              <a:rPr lang="en-US" dirty="0">
                <a:highlight>
                  <a:srgbClr val="FFFFFF"/>
                </a:highlight>
              </a:rPr>
              <a:t>There is a strong need for an intelligent recruitment platform that centralizes candidate data, automates hiring workflows, and provides AI-driven evaluation to support recruiters and hiring managers. The system must prioritize high-value candidates, flag risky hiring decisions, enforce approval-based salary governance, and deliver real-time insights to improve recruitment efficiency.</a:t>
            </a:r>
          </a:p>
          <a:p>
            <a:r>
              <a:rPr lang="en-US" dirty="0">
                <a:highlight>
                  <a:srgbClr val="FFFFFF"/>
                </a:highlight>
              </a:rPr>
              <a:t>An AI-powered Salesforce recruitment system addresses these challenges by automating candidate scoring, offer approvals, and recruiter notifications while enabling data-driven hiring decisions through Agentforce intelligence and workflow automation.</a:t>
            </a:r>
          </a:p>
          <a:p>
            <a:pPr marL="0" marR="0" lvl="0" indent="0" algn="l" rtl="0">
              <a:lnSpc>
                <a:spcPct val="115000"/>
              </a:lnSpc>
              <a:spcBef>
                <a:spcPts val="110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100"/>
              </a:spcBef>
              <a:spcAft>
                <a:spcPts val="0"/>
              </a:spcAft>
              <a:buClr>
                <a:srgbClr val="000000"/>
              </a:buClr>
              <a:buSzPts val="1200"/>
              <a:buFont typeface="Arial"/>
              <a:buNone/>
            </a:pPr>
            <a:endParaRPr sz="1200" b="0" i="0" u="none" strike="noStrike" cap="none" dirty="0">
              <a:solidFill>
                <a:schemeClr val="dk1"/>
              </a:solidFill>
              <a:latin typeface="IBM Plex Sans"/>
              <a:ea typeface="IBM Plex Sans"/>
              <a:cs typeface="IBM Plex Sans"/>
              <a:sym typeface="IBM Plex Sans"/>
            </a:endParaRPr>
          </a:p>
        </p:txBody>
      </p:sp>
      <p:sp>
        <p:nvSpPr>
          <p:cNvPr id="126" name="Google Shape;126;p21"/>
          <p:cNvSpPr txBox="1"/>
          <p:nvPr/>
        </p:nvSpPr>
        <p:spPr>
          <a:xfrm>
            <a:off x="514350" y="48940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27" name="Google Shape;127;p21"/>
          <p:cNvSpPr txBox="1"/>
          <p:nvPr/>
        </p:nvSpPr>
        <p:spPr>
          <a:xfrm>
            <a:off x="8491727" y="4894066"/>
            <a:ext cx="276000" cy="1077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700" b="0" i="0" u="none" strike="noStrike" cap="none">
              <a:solidFill>
                <a:srgbClr val="000000"/>
              </a:solidFill>
              <a:latin typeface="Arial"/>
              <a:ea typeface="Arial"/>
              <a:cs typeface="Arial"/>
              <a:sym typeface="Arial"/>
            </a:endParaRPr>
          </a:p>
        </p:txBody>
      </p:sp>
      <p:sp>
        <p:nvSpPr>
          <p:cNvPr id="129" name="Google Shape;129;p21"/>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fade">
                                      <p:cBhvr>
                                        <p:cTn id="7" dur="2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xEl>
                                              <p:pRg st="0" end="0"/>
                                            </p:txEl>
                                          </p:spTgt>
                                        </p:tgtEl>
                                        <p:attrNameLst>
                                          <p:attrName>style.visibility</p:attrName>
                                        </p:attrNameLst>
                                      </p:cBhvr>
                                      <p:to>
                                        <p:strVal val="visible"/>
                                      </p:to>
                                    </p:set>
                                    <p:animEffect transition="in" filter="fade">
                                      <p:cBhvr>
                                        <p:cTn id="12" dur="2500"/>
                                        <p:tgtEl>
                                          <p:spTgt spid="1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5">
                                            <p:txEl>
                                              <p:pRg st="1" end="1"/>
                                            </p:txEl>
                                          </p:spTgt>
                                        </p:tgtEl>
                                        <p:attrNameLst>
                                          <p:attrName>style.visibility</p:attrName>
                                        </p:attrNameLst>
                                      </p:cBhvr>
                                      <p:to>
                                        <p:strVal val="visible"/>
                                      </p:to>
                                    </p:set>
                                    <p:animEffect transition="in" filter="fade">
                                      <p:cBhvr>
                                        <p:cTn id="17" dur="2500"/>
                                        <p:tgtEl>
                                          <p:spTgt spid="1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5">
                                            <p:txEl>
                                              <p:pRg st="2" end="2"/>
                                            </p:txEl>
                                          </p:spTgt>
                                        </p:tgtEl>
                                        <p:attrNameLst>
                                          <p:attrName>style.visibility</p:attrName>
                                        </p:attrNameLst>
                                      </p:cBhvr>
                                      <p:to>
                                        <p:strVal val="visible"/>
                                      </p:to>
                                    </p:set>
                                    <p:animEffect transition="in" filter="fade">
                                      <p:cBhvr>
                                        <p:cTn id="22" dur="2500"/>
                                        <p:tgtEl>
                                          <p:spTgt spid="1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5">
                                            <p:txEl>
                                              <p:pRg st="3" end="3"/>
                                            </p:txEl>
                                          </p:spTgt>
                                        </p:tgtEl>
                                        <p:attrNameLst>
                                          <p:attrName>style.visibility</p:attrName>
                                        </p:attrNameLst>
                                      </p:cBhvr>
                                      <p:to>
                                        <p:strVal val="visible"/>
                                      </p:to>
                                    </p:set>
                                    <p:animEffect transition="in" filter="fade">
                                      <p:cBhvr>
                                        <p:cTn id="27" dur="2500"/>
                                        <p:tgtEl>
                                          <p:spTgt spid="1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33"/>
        <p:cNvGrpSpPr/>
        <p:nvPr/>
      </p:nvGrpSpPr>
      <p:grpSpPr>
        <a:xfrm>
          <a:off x="0" y="0"/>
          <a:ext cx="0" cy="0"/>
          <a:chOff x="0" y="0"/>
          <a:chExt cx="0" cy="0"/>
        </a:xfrm>
      </p:grpSpPr>
      <p:sp>
        <p:nvSpPr>
          <p:cNvPr id="134" name="Google Shape;134;p22"/>
          <p:cNvSpPr/>
          <p:nvPr/>
        </p:nvSpPr>
        <p:spPr>
          <a:xfrm>
            <a:off x="3477200" y="639050"/>
            <a:ext cx="5310188" cy="4051125"/>
          </a:xfrm>
          <a:custGeom>
            <a:avLst/>
            <a:gdLst/>
            <a:ahLst/>
            <a:cxnLst/>
            <a:rect l="l" t="t" r="r" b="b"/>
            <a:pathLst>
              <a:path w="10620375" h="7753350" extrusionOk="0">
                <a:moveTo>
                  <a:pt x="10179749" y="7753334"/>
                </a:moveTo>
                <a:lnTo>
                  <a:pt x="440625" y="7753334"/>
                </a:lnTo>
                <a:lnTo>
                  <a:pt x="392469" y="7750761"/>
                </a:lnTo>
                <a:lnTo>
                  <a:pt x="345851" y="7743218"/>
                </a:lnTo>
                <a:lnTo>
                  <a:pt x="301035" y="7730968"/>
                </a:lnTo>
                <a:lnTo>
                  <a:pt x="258284" y="7714277"/>
                </a:lnTo>
                <a:lnTo>
                  <a:pt x="217864" y="7693408"/>
                </a:lnTo>
                <a:lnTo>
                  <a:pt x="180039" y="7668626"/>
                </a:lnTo>
                <a:lnTo>
                  <a:pt x="145073" y="7640194"/>
                </a:lnTo>
                <a:lnTo>
                  <a:pt x="113230" y="7608377"/>
                </a:lnTo>
                <a:lnTo>
                  <a:pt x="84776" y="7573439"/>
                </a:lnTo>
                <a:lnTo>
                  <a:pt x="59973" y="7535645"/>
                </a:lnTo>
                <a:lnTo>
                  <a:pt x="39088" y="7495257"/>
                </a:lnTo>
                <a:lnTo>
                  <a:pt x="22383" y="7452541"/>
                </a:lnTo>
                <a:lnTo>
                  <a:pt x="10124" y="7407761"/>
                </a:lnTo>
                <a:lnTo>
                  <a:pt x="2575" y="7361180"/>
                </a:lnTo>
                <a:lnTo>
                  <a:pt x="0" y="7313064"/>
                </a:lnTo>
                <a:lnTo>
                  <a:pt x="0" y="440270"/>
                </a:lnTo>
                <a:lnTo>
                  <a:pt x="2575" y="392153"/>
                </a:lnTo>
                <a:lnTo>
                  <a:pt x="10124" y="345573"/>
                </a:lnTo>
                <a:lnTo>
                  <a:pt x="22383" y="300792"/>
                </a:lnTo>
                <a:lnTo>
                  <a:pt x="39088" y="258076"/>
                </a:lnTo>
                <a:lnTo>
                  <a:pt x="59973" y="217689"/>
                </a:lnTo>
                <a:lnTo>
                  <a:pt x="84776" y="179894"/>
                </a:lnTo>
                <a:lnTo>
                  <a:pt x="113230" y="144956"/>
                </a:lnTo>
                <a:lnTo>
                  <a:pt x="145073" y="113139"/>
                </a:lnTo>
                <a:lnTo>
                  <a:pt x="180039" y="84708"/>
                </a:lnTo>
                <a:lnTo>
                  <a:pt x="217864" y="59925"/>
                </a:lnTo>
                <a:lnTo>
                  <a:pt x="258284" y="39056"/>
                </a:lnTo>
                <a:lnTo>
                  <a:pt x="301035" y="22365"/>
                </a:lnTo>
                <a:lnTo>
                  <a:pt x="345851" y="10116"/>
                </a:lnTo>
                <a:lnTo>
                  <a:pt x="392469" y="2573"/>
                </a:lnTo>
                <a:lnTo>
                  <a:pt x="440625" y="0"/>
                </a:lnTo>
                <a:lnTo>
                  <a:pt x="10179749" y="0"/>
                </a:lnTo>
                <a:lnTo>
                  <a:pt x="10227904" y="2573"/>
                </a:lnTo>
                <a:lnTo>
                  <a:pt x="10274522" y="10116"/>
                </a:lnTo>
                <a:lnTo>
                  <a:pt x="10319339" y="22365"/>
                </a:lnTo>
                <a:lnTo>
                  <a:pt x="10362089" y="39056"/>
                </a:lnTo>
                <a:lnTo>
                  <a:pt x="10402509" y="59925"/>
                </a:lnTo>
                <a:lnTo>
                  <a:pt x="10440334" y="84708"/>
                </a:lnTo>
                <a:lnTo>
                  <a:pt x="10475300" y="113139"/>
                </a:lnTo>
                <a:lnTo>
                  <a:pt x="10507143" y="144956"/>
                </a:lnTo>
                <a:lnTo>
                  <a:pt x="10535598" y="179894"/>
                </a:lnTo>
                <a:lnTo>
                  <a:pt x="10560400" y="217689"/>
                </a:lnTo>
                <a:lnTo>
                  <a:pt x="10581286" y="258076"/>
                </a:lnTo>
                <a:lnTo>
                  <a:pt x="10597990" y="300792"/>
                </a:lnTo>
                <a:lnTo>
                  <a:pt x="10610249" y="345573"/>
                </a:lnTo>
                <a:lnTo>
                  <a:pt x="10617799" y="392153"/>
                </a:lnTo>
                <a:lnTo>
                  <a:pt x="10620374" y="440270"/>
                </a:lnTo>
                <a:lnTo>
                  <a:pt x="10620374" y="7313064"/>
                </a:lnTo>
                <a:lnTo>
                  <a:pt x="10617799" y="7361180"/>
                </a:lnTo>
                <a:lnTo>
                  <a:pt x="10610249" y="7407761"/>
                </a:lnTo>
                <a:lnTo>
                  <a:pt x="10597990" y="7452541"/>
                </a:lnTo>
                <a:lnTo>
                  <a:pt x="10581286" y="7495257"/>
                </a:lnTo>
                <a:lnTo>
                  <a:pt x="10560400" y="7535645"/>
                </a:lnTo>
                <a:lnTo>
                  <a:pt x="10535598" y="7573439"/>
                </a:lnTo>
                <a:lnTo>
                  <a:pt x="10507143" y="7608377"/>
                </a:lnTo>
                <a:lnTo>
                  <a:pt x="10475300" y="7640194"/>
                </a:lnTo>
                <a:lnTo>
                  <a:pt x="10440334" y="7668626"/>
                </a:lnTo>
                <a:lnTo>
                  <a:pt x="10402509" y="7693408"/>
                </a:lnTo>
                <a:lnTo>
                  <a:pt x="10362089" y="7714277"/>
                </a:lnTo>
                <a:lnTo>
                  <a:pt x="10319339" y="7730968"/>
                </a:lnTo>
                <a:lnTo>
                  <a:pt x="10274522" y="7743218"/>
                </a:lnTo>
                <a:lnTo>
                  <a:pt x="10227904" y="7750761"/>
                </a:lnTo>
                <a:lnTo>
                  <a:pt x="10179749" y="7753334"/>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35" name="Google Shape;135;p22"/>
          <p:cNvSpPr txBox="1"/>
          <p:nvPr/>
        </p:nvSpPr>
        <p:spPr>
          <a:xfrm>
            <a:off x="3477200" y="453325"/>
            <a:ext cx="5061000" cy="39312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Social Impact: </a:t>
            </a:r>
          </a:p>
          <a:p>
            <a:pPr marL="171450" lvl="0" indent="-171450">
              <a:lnSpc>
                <a:spcPct val="115000"/>
              </a:lnSpc>
              <a:buSzPts val="1000"/>
              <a:buFont typeface="Arial" panose="020B0604020202020204" pitchFamily="34" charset="0"/>
              <a:buChar char="•"/>
            </a:pPr>
            <a:r>
              <a:rPr lang="en-US" sz="1000" dirty="0"/>
              <a:t>Fair and unbiased candidate evaluation</a:t>
            </a:r>
          </a:p>
          <a:p>
            <a:pPr marL="171450" lvl="0" indent="-171450">
              <a:lnSpc>
                <a:spcPct val="115000"/>
              </a:lnSpc>
              <a:buSzPts val="1000"/>
              <a:buFont typeface="Arial" panose="020B0604020202020204" pitchFamily="34" charset="0"/>
              <a:buChar char="•"/>
            </a:pPr>
            <a:r>
              <a:rPr lang="en-US" sz="1000" dirty="0"/>
              <a:t>Faster hiring opportunities for applicants</a:t>
            </a:r>
          </a:p>
          <a:p>
            <a:pPr marL="171450" lvl="0" indent="-171450">
              <a:lnSpc>
                <a:spcPct val="115000"/>
              </a:lnSpc>
              <a:buSzPts val="1000"/>
              <a:buFont typeface="Arial" panose="020B0604020202020204" pitchFamily="34" charset="0"/>
              <a:buChar char="•"/>
            </a:pPr>
            <a:r>
              <a:rPr lang="en-IN" sz="1000" dirty="0"/>
              <a:t>Reduced recruiter workload</a:t>
            </a:r>
          </a:p>
          <a:p>
            <a:pPr marL="171450" lvl="0" indent="-171450">
              <a:lnSpc>
                <a:spcPct val="115000"/>
              </a:lnSpc>
              <a:buSzPts val="1000"/>
              <a:buFont typeface="Arial" panose="020B0604020202020204" pitchFamily="34" charset="0"/>
              <a:buChar char="•"/>
            </a:pPr>
            <a:r>
              <a:rPr lang="en-IN" sz="1000" dirty="0"/>
              <a:t>Improved candidate experience</a:t>
            </a:r>
            <a:endParaRPr sz="10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11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IBM Plex Sans"/>
                <a:ea typeface="IBM Plex Sans"/>
                <a:cs typeface="IBM Plex Sans"/>
                <a:sym typeface="IBM Plex Sans"/>
              </a:rPr>
              <a:t>Business Model /Impact: </a:t>
            </a:r>
          </a:p>
          <a:p>
            <a:pPr lvl="0">
              <a:spcBef>
                <a:spcPts val="1100"/>
              </a:spcBef>
              <a:buSzPts val="1000"/>
            </a:pPr>
            <a:r>
              <a:rPr lang="en-IN" sz="1000" dirty="0"/>
              <a:t>Faster recruitment cycle</a:t>
            </a:r>
          </a:p>
          <a:p>
            <a:pPr lvl="0">
              <a:spcBef>
                <a:spcPts val="1100"/>
              </a:spcBef>
              <a:buSzPts val="1000"/>
            </a:pPr>
            <a:r>
              <a:rPr lang="en-IN" sz="1000" dirty="0"/>
              <a:t>Higher hiring quality</a:t>
            </a:r>
          </a:p>
          <a:p>
            <a:pPr lvl="0">
              <a:spcBef>
                <a:spcPts val="1100"/>
              </a:spcBef>
              <a:buSzPts val="1000"/>
            </a:pPr>
            <a:r>
              <a:rPr lang="en-IN" sz="1000" dirty="0"/>
              <a:t>Standardized approval governance</a:t>
            </a:r>
          </a:p>
          <a:p>
            <a:pPr lvl="0">
              <a:spcBef>
                <a:spcPts val="1100"/>
              </a:spcBef>
              <a:buSzPts val="1000"/>
            </a:pPr>
            <a:r>
              <a:rPr lang="en-IN" sz="1000" dirty="0"/>
              <a:t>Increased recruiter productivity</a:t>
            </a:r>
            <a:endParaRPr sz="10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1100"/>
              </a:spcBef>
              <a:spcAft>
                <a:spcPts val="0"/>
              </a:spcAft>
              <a:buClr>
                <a:srgbClr val="000000"/>
              </a:buClr>
              <a:buSzPts val="1000"/>
              <a:buFont typeface="Arial"/>
              <a:buNone/>
            </a:pPr>
            <a:r>
              <a:rPr lang="en" sz="1000" b="1" i="0" u="none" strike="noStrike" cap="none" dirty="0">
                <a:solidFill>
                  <a:srgbClr val="2129A5"/>
                </a:solidFill>
                <a:highlight>
                  <a:srgbClr val="F1F1F1"/>
                </a:highlight>
                <a:latin typeface="Roboto"/>
                <a:ea typeface="Roboto"/>
                <a:cs typeface="Roboto"/>
                <a:sym typeface="Roboto"/>
              </a:rPr>
              <a:t>Recommended Technology Stacks :</a:t>
            </a:r>
          </a:p>
          <a:p>
            <a:pPr marL="171450" lvl="0" indent="-171450">
              <a:spcBef>
                <a:spcPts val="1100"/>
              </a:spcBef>
              <a:buSzPts val="1000"/>
              <a:buFont typeface="Arial" panose="020B0604020202020204" pitchFamily="34" charset="0"/>
              <a:buChar char="•"/>
            </a:pPr>
            <a:r>
              <a:rPr lang="en-IN" sz="1000" dirty="0">
                <a:solidFill>
                  <a:schemeClr val="tx2">
                    <a:lumMod val="25000"/>
                  </a:schemeClr>
                </a:solidFill>
                <a:highlight>
                  <a:srgbClr val="F1F1F1"/>
                </a:highlight>
              </a:rPr>
              <a:t>Salesforce CRM</a:t>
            </a:r>
          </a:p>
          <a:p>
            <a:pPr marL="171450" lvl="0" indent="-171450">
              <a:spcBef>
                <a:spcPts val="1100"/>
              </a:spcBef>
              <a:buSzPts val="1000"/>
              <a:buFont typeface="Arial" panose="020B0604020202020204" pitchFamily="34" charset="0"/>
              <a:buChar char="•"/>
            </a:pPr>
            <a:r>
              <a:rPr lang="en-IN" sz="1000" b="1" dirty="0">
                <a:solidFill>
                  <a:schemeClr val="tx2">
                    <a:lumMod val="25000"/>
                  </a:schemeClr>
                </a:solidFill>
                <a:highlight>
                  <a:srgbClr val="F1F1F1"/>
                </a:highlight>
                <a:latin typeface="Roboto"/>
                <a:ea typeface="Roboto"/>
                <a:cs typeface="Roboto"/>
                <a:sym typeface="Roboto"/>
              </a:rPr>
              <a:t>Flows and Approval Process</a:t>
            </a:r>
          </a:p>
          <a:p>
            <a:pPr marL="171450" lvl="0" indent="-171450">
              <a:spcBef>
                <a:spcPts val="1100"/>
              </a:spcBef>
              <a:buSzPts val="1000"/>
              <a:buFont typeface="Arial" panose="020B0604020202020204" pitchFamily="34" charset="0"/>
              <a:buChar char="•"/>
            </a:pPr>
            <a:r>
              <a:rPr lang="en-IN" sz="1000" b="1" dirty="0">
                <a:solidFill>
                  <a:schemeClr val="tx2">
                    <a:lumMod val="25000"/>
                  </a:schemeClr>
                </a:solidFill>
                <a:highlight>
                  <a:srgbClr val="F1F1F1"/>
                </a:highlight>
                <a:latin typeface="Roboto"/>
                <a:ea typeface="Roboto"/>
                <a:cs typeface="Roboto"/>
                <a:sym typeface="Roboto"/>
              </a:rPr>
              <a:t>Agentforce AI</a:t>
            </a:r>
          </a:p>
          <a:p>
            <a:pPr marL="171450" lvl="0" indent="-171450">
              <a:spcBef>
                <a:spcPts val="1100"/>
              </a:spcBef>
              <a:buSzPts val="1000"/>
              <a:buFont typeface="Arial" panose="020B0604020202020204" pitchFamily="34" charset="0"/>
              <a:buChar char="•"/>
            </a:pPr>
            <a:r>
              <a:rPr lang="en-IN" sz="1000" b="1" dirty="0">
                <a:solidFill>
                  <a:schemeClr val="tx2">
                    <a:lumMod val="25000"/>
                  </a:schemeClr>
                </a:solidFill>
                <a:highlight>
                  <a:srgbClr val="F1F1F1"/>
                </a:highlight>
                <a:latin typeface="Roboto"/>
                <a:ea typeface="Roboto"/>
                <a:cs typeface="Roboto"/>
                <a:sym typeface="Roboto"/>
              </a:rPr>
              <a:t>Prompt Builder</a:t>
            </a:r>
          </a:p>
          <a:p>
            <a:pPr marL="171450" lvl="0" indent="-171450">
              <a:spcBef>
                <a:spcPts val="1100"/>
              </a:spcBef>
              <a:buSzPts val="1000"/>
              <a:buFont typeface="Arial" panose="020B0604020202020204" pitchFamily="34" charset="0"/>
              <a:buChar char="•"/>
            </a:pPr>
            <a:r>
              <a:rPr lang="en-IN" sz="1000" b="1" dirty="0">
                <a:solidFill>
                  <a:schemeClr val="tx2">
                    <a:lumMod val="25000"/>
                  </a:schemeClr>
                </a:solidFill>
                <a:highlight>
                  <a:srgbClr val="F1F1F1"/>
                </a:highlight>
                <a:latin typeface="Roboto"/>
                <a:ea typeface="Roboto"/>
                <a:cs typeface="Roboto"/>
                <a:sym typeface="Roboto"/>
              </a:rPr>
              <a:t>Lightning Experience</a:t>
            </a:r>
          </a:p>
          <a:p>
            <a:pPr marL="171450" lvl="0" indent="-171450">
              <a:spcBef>
                <a:spcPts val="1100"/>
              </a:spcBef>
              <a:buSzPts val="1000"/>
              <a:buFont typeface="Arial" panose="020B0604020202020204" pitchFamily="34" charset="0"/>
              <a:buChar char="•"/>
            </a:pPr>
            <a:r>
              <a:rPr lang="en-IN" sz="1000" b="1" dirty="0">
                <a:solidFill>
                  <a:schemeClr val="tx2">
                    <a:lumMod val="25000"/>
                  </a:schemeClr>
                </a:solidFill>
                <a:highlight>
                  <a:srgbClr val="F1F1F1"/>
                </a:highlight>
                <a:latin typeface="Roboto"/>
                <a:ea typeface="Roboto"/>
                <a:cs typeface="Roboto"/>
                <a:sym typeface="Roboto"/>
              </a:rPr>
              <a:t>Reports and Dashboards</a:t>
            </a:r>
            <a:endParaRPr sz="1000" b="1" dirty="0">
              <a:solidFill>
                <a:schemeClr val="tx2">
                  <a:lumMod val="25000"/>
                </a:schemeClr>
              </a:solidFill>
              <a:highlight>
                <a:srgbClr val="F1F1F1"/>
              </a:highlight>
              <a:latin typeface="Roboto"/>
              <a:ea typeface="Roboto"/>
              <a:cs typeface="Roboto"/>
              <a:sym typeface="Roboto"/>
            </a:endParaRPr>
          </a:p>
          <a:p>
            <a:pPr marL="0" marR="0" lvl="0" indent="0" algn="l" rtl="0">
              <a:lnSpc>
                <a:spcPct val="115000"/>
              </a:lnSpc>
              <a:spcBef>
                <a:spcPts val="1500"/>
              </a:spcBef>
              <a:spcAft>
                <a:spcPts val="0"/>
              </a:spcAft>
              <a:buClr>
                <a:schemeClr val="dk1"/>
              </a:buClr>
              <a:buSzPts val="800"/>
              <a:buFont typeface="Arial"/>
              <a:buNone/>
            </a:pPr>
            <a:endParaRPr sz="1000" b="0" i="0" u="none" strike="noStrike" cap="none" dirty="0">
              <a:solidFill>
                <a:srgbClr val="374151"/>
              </a:solidFill>
              <a:highlight>
                <a:schemeClr val="lt2"/>
              </a:highlight>
              <a:latin typeface="Roboto"/>
              <a:ea typeface="Roboto"/>
              <a:cs typeface="Roboto"/>
              <a:sym typeface="Roboto"/>
            </a:endParaRPr>
          </a:p>
          <a:p>
            <a:pPr marL="0" marR="0" lvl="0" indent="0" algn="l" rtl="0">
              <a:lnSpc>
                <a:spcPct val="115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0" marR="0" lvl="0" indent="0" algn="l" rtl="0">
              <a:lnSpc>
                <a:spcPct val="115000"/>
              </a:lnSpc>
              <a:spcBef>
                <a:spcPts val="0"/>
              </a:spcBef>
              <a:spcAft>
                <a:spcPts val="0"/>
              </a:spcAft>
              <a:buClr>
                <a:srgbClr val="000000"/>
              </a:buClr>
              <a:buSzPts val="1000"/>
              <a:buFont typeface="Arial"/>
              <a:buNone/>
            </a:pPr>
            <a:endParaRPr sz="1000" b="0" i="0" u="none" strike="noStrike" cap="none" dirty="0">
              <a:solidFill>
                <a:srgbClr val="37415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rgbClr val="000000"/>
              </a:buClr>
              <a:buSzPts val="1000"/>
              <a:buFont typeface="Arial"/>
              <a:buNone/>
            </a:pPr>
            <a:endParaRPr sz="1000" b="0" i="0" u="none" strike="noStrike" cap="none" dirty="0">
              <a:solidFill>
                <a:srgbClr val="000000"/>
              </a:solidFill>
              <a:highlight>
                <a:schemeClr val="lt2"/>
              </a:highlight>
              <a:latin typeface="IBM Plex Sans"/>
              <a:ea typeface="IBM Plex Sans"/>
              <a:cs typeface="IBM Plex Sans"/>
              <a:sym typeface="IBM Plex Sans"/>
            </a:endParaRPr>
          </a:p>
        </p:txBody>
      </p:sp>
      <p:sp>
        <p:nvSpPr>
          <p:cNvPr id="136" name="Google Shape;136;p22"/>
          <p:cNvSpPr txBox="1"/>
          <p:nvPr/>
        </p:nvSpPr>
        <p:spPr>
          <a:xfrm>
            <a:off x="208600" y="706821"/>
            <a:ext cx="2590800" cy="1754337"/>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-3: </a:t>
            </a:r>
          </a:p>
          <a:p>
            <a:pPr marL="0" marR="0" lvl="0" indent="0" algn="l" rtl="0">
              <a:lnSpc>
                <a:spcPct val="90000"/>
              </a:lnSpc>
              <a:spcBef>
                <a:spcPts val="0"/>
              </a:spcBef>
              <a:spcAft>
                <a:spcPts val="0"/>
              </a:spcAft>
              <a:buClr>
                <a:srgbClr val="000000"/>
              </a:buClr>
              <a:buSzPts val="2000"/>
              <a:buFont typeface="Arial"/>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chemeClr val="dk1"/>
                </a:solidFill>
                <a:latin typeface="Arial"/>
                <a:ea typeface="Arial"/>
                <a:cs typeface="Arial"/>
                <a:sym typeface="Arial"/>
              </a:rPr>
              <a:t>AI- Powered Job Recruitment &amp; Candidate Management System</a:t>
            </a:r>
            <a:endParaRPr sz="2000" b="0" i="0" u="none" strike="noStrike" cap="none" dirty="0">
              <a:solidFill>
                <a:srgbClr val="21299A"/>
              </a:solidFill>
              <a:latin typeface="IBM Plex Sans"/>
              <a:ea typeface="IBM Plex Sans"/>
              <a:cs typeface="IBM Plex Sans"/>
              <a:sym typeface="IBM Plex Sans"/>
            </a:endParaRPr>
          </a:p>
        </p:txBody>
      </p:sp>
      <p:sp>
        <p:nvSpPr>
          <p:cNvPr id="137" name="Google Shape;137;p22"/>
          <p:cNvSpPr txBox="1"/>
          <p:nvPr/>
        </p:nvSpPr>
        <p:spPr>
          <a:xfrm>
            <a:off x="514350" y="47416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38" name="Google Shape;138;p22"/>
          <p:cNvSpPr txBox="1"/>
          <p:nvPr/>
        </p:nvSpPr>
        <p:spPr>
          <a:xfrm>
            <a:off x="8491727" y="4741666"/>
            <a:ext cx="2760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1200" b="1" i="0" u="none" strike="noStrike" cap="none">
              <a:solidFill>
                <a:srgbClr val="21295C"/>
              </a:solidFill>
              <a:latin typeface="Montserrat"/>
              <a:ea typeface="Montserrat"/>
              <a:cs typeface="Montserrat"/>
              <a:sym typeface="Montserrat"/>
            </a:endParaRPr>
          </a:p>
        </p:txBody>
      </p:sp>
      <p:sp>
        <p:nvSpPr>
          <p:cNvPr id="140" name="Google Shape;140;p22"/>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animEffect transition="in" filter="fade">
                                      <p:cBhvr>
                                        <p:cTn id="7" dur="2500"/>
                                        <p:tgtEl>
                                          <p:spTgt spid="1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
                                            <p:txEl>
                                              <p:pRg st="1" end="1"/>
                                            </p:txEl>
                                          </p:spTgt>
                                        </p:tgtEl>
                                        <p:attrNameLst>
                                          <p:attrName>style.visibility</p:attrName>
                                        </p:attrNameLst>
                                      </p:cBhvr>
                                      <p:to>
                                        <p:strVal val="visible"/>
                                      </p:to>
                                    </p:set>
                                    <p:animEffect transition="in" filter="fade">
                                      <p:cBhvr>
                                        <p:cTn id="12" dur="2500"/>
                                        <p:tgtEl>
                                          <p:spTgt spid="1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5">
                                            <p:txEl>
                                              <p:pRg st="2" end="2"/>
                                            </p:txEl>
                                          </p:spTgt>
                                        </p:tgtEl>
                                        <p:attrNameLst>
                                          <p:attrName>style.visibility</p:attrName>
                                        </p:attrNameLst>
                                      </p:cBhvr>
                                      <p:to>
                                        <p:strVal val="visible"/>
                                      </p:to>
                                    </p:set>
                                    <p:animEffect transition="in" filter="fade">
                                      <p:cBhvr>
                                        <p:cTn id="17" dur="2500"/>
                                        <p:tgtEl>
                                          <p:spTgt spid="1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5">
                                            <p:txEl>
                                              <p:pRg st="3" end="3"/>
                                            </p:txEl>
                                          </p:spTgt>
                                        </p:tgtEl>
                                        <p:attrNameLst>
                                          <p:attrName>style.visibility</p:attrName>
                                        </p:attrNameLst>
                                      </p:cBhvr>
                                      <p:to>
                                        <p:strVal val="visible"/>
                                      </p:to>
                                    </p:set>
                                    <p:animEffect transition="in" filter="fade">
                                      <p:cBhvr>
                                        <p:cTn id="22" dur="2500"/>
                                        <p:tgtEl>
                                          <p:spTgt spid="1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5">
                                            <p:txEl>
                                              <p:pRg st="4" end="4"/>
                                            </p:txEl>
                                          </p:spTgt>
                                        </p:tgtEl>
                                        <p:attrNameLst>
                                          <p:attrName>style.visibility</p:attrName>
                                        </p:attrNameLst>
                                      </p:cBhvr>
                                      <p:to>
                                        <p:strVal val="visible"/>
                                      </p:to>
                                    </p:set>
                                    <p:animEffect transition="in" filter="fade">
                                      <p:cBhvr>
                                        <p:cTn id="27" dur="2500"/>
                                        <p:tgtEl>
                                          <p:spTgt spid="1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5">
                                            <p:txEl>
                                              <p:pRg st="5" end="5"/>
                                            </p:txEl>
                                          </p:spTgt>
                                        </p:tgtEl>
                                        <p:attrNameLst>
                                          <p:attrName>style.visibility</p:attrName>
                                        </p:attrNameLst>
                                      </p:cBhvr>
                                      <p:to>
                                        <p:strVal val="visible"/>
                                      </p:to>
                                    </p:set>
                                    <p:animEffect transition="in" filter="fade">
                                      <p:cBhvr>
                                        <p:cTn id="32" dur="2500"/>
                                        <p:tgtEl>
                                          <p:spTgt spid="1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5">
                                            <p:txEl>
                                              <p:pRg st="6" end="6"/>
                                            </p:txEl>
                                          </p:spTgt>
                                        </p:tgtEl>
                                        <p:attrNameLst>
                                          <p:attrName>style.visibility</p:attrName>
                                        </p:attrNameLst>
                                      </p:cBhvr>
                                      <p:to>
                                        <p:strVal val="visible"/>
                                      </p:to>
                                    </p:set>
                                    <p:animEffect transition="in" filter="fade">
                                      <p:cBhvr>
                                        <p:cTn id="37" dur="2500"/>
                                        <p:tgtEl>
                                          <p:spTgt spid="1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5">
                                            <p:txEl>
                                              <p:pRg st="7" end="7"/>
                                            </p:txEl>
                                          </p:spTgt>
                                        </p:tgtEl>
                                        <p:attrNameLst>
                                          <p:attrName>style.visibility</p:attrName>
                                        </p:attrNameLst>
                                      </p:cBhvr>
                                      <p:to>
                                        <p:strVal val="visible"/>
                                      </p:to>
                                    </p:set>
                                    <p:animEffect transition="in" filter="fade">
                                      <p:cBhvr>
                                        <p:cTn id="42" dur="2500"/>
                                        <p:tgtEl>
                                          <p:spTgt spid="1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5">
                                            <p:txEl>
                                              <p:pRg st="8" end="8"/>
                                            </p:txEl>
                                          </p:spTgt>
                                        </p:tgtEl>
                                        <p:attrNameLst>
                                          <p:attrName>style.visibility</p:attrName>
                                        </p:attrNameLst>
                                      </p:cBhvr>
                                      <p:to>
                                        <p:strVal val="visible"/>
                                      </p:to>
                                    </p:set>
                                    <p:animEffect transition="in" filter="fade">
                                      <p:cBhvr>
                                        <p:cTn id="47" dur="2500"/>
                                        <p:tgtEl>
                                          <p:spTgt spid="1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5">
                                            <p:txEl>
                                              <p:pRg st="9" end="9"/>
                                            </p:txEl>
                                          </p:spTgt>
                                        </p:tgtEl>
                                        <p:attrNameLst>
                                          <p:attrName>style.visibility</p:attrName>
                                        </p:attrNameLst>
                                      </p:cBhvr>
                                      <p:to>
                                        <p:strVal val="visible"/>
                                      </p:to>
                                    </p:set>
                                    <p:animEffect transition="in" filter="fade">
                                      <p:cBhvr>
                                        <p:cTn id="52" dur="2500"/>
                                        <p:tgtEl>
                                          <p:spTgt spid="13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5">
                                            <p:txEl>
                                              <p:pRg st="10" end="10"/>
                                            </p:txEl>
                                          </p:spTgt>
                                        </p:tgtEl>
                                        <p:attrNameLst>
                                          <p:attrName>style.visibility</p:attrName>
                                        </p:attrNameLst>
                                      </p:cBhvr>
                                      <p:to>
                                        <p:strVal val="visible"/>
                                      </p:to>
                                    </p:set>
                                    <p:animEffect transition="in" filter="fade">
                                      <p:cBhvr>
                                        <p:cTn id="57" dur="2500"/>
                                        <p:tgtEl>
                                          <p:spTgt spid="13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5">
                                            <p:txEl>
                                              <p:pRg st="11" end="11"/>
                                            </p:txEl>
                                          </p:spTgt>
                                        </p:tgtEl>
                                        <p:attrNameLst>
                                          <p:attrName>style.visibility</p:attrName>
                                        </p:attrNameLst>
                                      </p:cBhvr>
                                      <p:to>
                                        <p:strVal val="visible"/>
                                      </p:to>
                                    </p:set>
                                    <p:animEffect transition="in" filter="fade">
                                      <p:cBhvr>
                                        <p:cTn id="62" dur="2500"/>
                                        <p:tgtEl>
                                          <p:spTgt spid="13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35">
                                            <p:txEl>
                                              <p:pRg st="12" end="12"/>
                                            </p:txEl>
                                          </p:spTgt>
                                        </p:tgtEl>
                                        <p:attrNameLst>
                                          <p:attrName>style.visibility</p:attrName>
                                        </p:attrNameLst>
                                      </p:cBhvr>
                                      <p:to>
                                        <p:strVal val="visible"/>
                                      </p:to>
                                    </p:set>
                                    <p:animEffect transition="in" filter="fade">
                                      <p:cBhvr>
                                        <p:cTn id="67" dur="2500"/>
                                        <p:tgtEl>
                                          <p:spTgt spid="13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5">
                                            <p:txEl>
                                              <p:pRg st="13" end="13"/>
                                            </p:txEl>
                                          </p:spTgt>
                                        </p:tgtEl>
                                        <p:attrNameLst>
                                          <p:attrName>style.visibility</p:attrName>
                                        </p:attrNameLst>
                                      </p:cBhvr>
                                      <p:to>
                                        <p:strVal val="visible"/>
                                      </p:to>
                                    </p:set>
                                    <p:animEffect transition="in" filter="fade">
                                      <p:cBhvr>
                                        <p:cTn id="72" dur="2500"/>
                                        <p:tgtEl>
                                          <p:spTgt spid="13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5">
                                            <p:txEl>
                                              <p:pRg st="14" end="14"/>
                                            </p:txEl>
                                          </p:spTgt>
                                        </p:tgtEl>
                                        <p:attrNameLst>
                                          <p:attrName>style.visibility</p:attrName>
                                        </p:attrNameLst>
                                      </p:cBhvr>
                                      <p:to>
                                        <p:strVal val="visible"/>
                                      </p:to>
                                    </p:set>
                                    <p:animEffect transition="in" filter="fade">
                                      <p:cBhvr>
                                        <p:cTn id="77" dur="2500"/>
                                        <p:tgtEl>
                                          <p:spTgt spid="13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5">
                                            <p:txEl>
                                              <p:pRg st="15" end="15"/>
                                            </p:txEl>
                                          </p:spTgt>
                                        </p:tgtEl>
                                        <p:attrNameLst>
                                          <p:attrName>style.visibility</p:attrName>
                                        </p:attrNameLst>
                                      </p:cBhvr>
                                      <p:to>
                                        <p:strVal val="visible"/>
                                      </p:to>
                                    </p:set>
                                    <p:animEffect transition="in" filter="fade">
                                      <p:cBhvr>
                                        <p:cTn id="82" dur="2500"/>
                                        <p:tgtEl>
                                          <p:spTgt spid="135">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5">
                                            <p:txEl>
                                              <p:pRg st="16" end="16"/>
                                            </p:txEl>
                                          </p:spTgt>
                                        </p:tgtEl>
                                        <p:attrNameLst>
                                          <p:attrName>style.visibility</p:attrName>
                                        </p:attrNameLst>
                                      </p:cBhvr>
                                      <p:to>
                                        <p:strVal val="visible"/>
                                      </p:to>
                                    </p:set>
                                    <p:animEffect transition="in" filter="fade">
                                      <p:cBhvr>
                                        <p:cTn id="87" dur="2500"/>
                                        <p:tgtEl>
                                          <p:spTgt spid="13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p:nvPr/>
        </p:nvSpPr>
        <p:spPr>
          <a:xfrm>
            <a:off x="273475" y="729063"/>
            <a:ext cx="2590800" cy="1477338"/>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None/>
            </a:pPr>
            <a:r>
              <a:rPr lang="en" sz="2000" b="0" i="0" u="none" strike="noStrike" cap="none" dirty="0">
                <a:solidFill>
                  <a:srgbClr val="21299A"/>
                </a:solidFill>
                <a:latin typeface="IBM Plex Sans"/>
                <a:ea typeface="IBM Plex Sans"/>
                <a:cs typeface="IBM Plex Sans"/>
                <a:sym typeface="IBM Plex Sans"/>
              </a:rPr>
              <a:t>Use-Case - 4: </a:t>
            </a:r>
          </a:p>
          <a:p>
            <a:pPr marL="0" marR="0" lvl="0" indent="0" algn="l" rtl="0">
              <a:lnSpc>
                <a:spcPct val="90000"/>
              </a:lnSpc>
              <a:spcBef>
                <a:spcPts val="0"/>
              </a:spcBef>
              <a:spcAft>
                <a:spcPts val="0"/>
              </a:spcAft>
              <a:buNone/>
            </a:pPr>
            <a:endParaRPr lang="en" sz="2000" dirty="0">
              <a:solidFill>
                <a:srgbClr val="21299A"/>
              </a:solidFill>
              <a:latin typeface="IBM Plex Sans"/>
              <a:ea typeface="IBM Plex Sans"/>
              <a:cs typeface="IBM Plex Sans"/>
              <a:sym typeface="IBM Plex Sans"/>
            </a:endParaRPr>
          </a:p>
          <a:p>
            <a:pPr lvl="0">
              <a:lnSpc>
                <a:spcPct val="90000"/>
              </a:lnSpc>
              <a:buSzPts val="2000"/>
            </a:pPr>
            <a:r>
              <a:rPr lang="en-US" sz="2000" dirty="0">
                <a:solidFill>
                  <a:schemeClr val="dk1"/>
                </a:solidFill>
              </a:rPr>
              <a:t>AI- Powered Customer Support &amp; Service Automation</a:t>
            </a:r>
            <a:endParaRPr lang="en-US" sz="2000" dirty="0">
              <a:solidFill>
                <a:srgbClr val="21299A"/>
              </a:solidFill>
              <a:latin typeface="IBM Plex Sans"/>
              <a:ea typeface="IBM Plex Sans"/>
              <a:cs typeface="IBM Plex Sans"/>
              <a:sym typeface="IBM Plex Sans"/>
            </a:endParaRPr>
          </a:p>
        </p:txBody>
      </p:sp>
      <p:sp>
        <p:nvSpPr>
          <p:cNvPr id="146" name="Google Shape;146;p23"/>
          <p:cNvSpPr txBox="1"/>
          <p:nvPr/>
        </p:nvSpPr>
        <p:spPr>
          <a:xfrm>
            <a:off x="3238425" y="633850"/>
            <a:ext cx="5529300" cy="35970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500"/>
              </a:spcBef>
              <a:spcAft>
                <a:spcPts val="0"/>
              </a:spcAft>
              <a:buClr>
                <a:srgbClr val="000000"/>
              </a:buClr>
              <a:buSzPts val="1700"/>
              <a:buFont typeface="Arial"/>
              <a:buNone/>
            </a:pPr>
            <a:r>
              <a:rPr lang="en" sz="1700" b="1" i="0" u="none" strike="noStrike" cap="none" dirty="0">
                <a:solidFill>
                  <a:srgbClr val="21299A"/>
                </a:solidFill>
                <a:latin typeface="IBM Plex Sans"/>
                <a:ea typeface="IBM Plex Sans"/>
                <a:cs typeface="IBM Plex Sans"/>
                <a:sym typeface="IBM Plex Sans"/>
              </a:rPr>
              <a:t>Project Problem Statement</a:t>
            </a:r>
            <a:r>
              <a:rPr lang="en" sz="1700" b="0" i="0" u="none" strike="noStrike" cap="none" dirty="0">
                <a:solidFill>
                  <a:schemeClr val="dk1"/>
                </a:solidFill>
                <a:latin typeface="IBM Plex Sans"/>
                <a:ea typeface="IBM Plex Sans"/>
                <a:cs typeface="IBM Plex Sans"/>
                <a:sym typeface="IBM Plex Sans"/>
              </a:rPr>
              <a:t> :</a:t>
            </a:r>
            <a:endParaRPr sz="1700" b="0" i="0" u="none" strike="noStrike" cap="none" dirty="0">
              <a:solidFill>
                <a:schemeClr val="dk1"/>
              </a:solidFill>
              <a:latin typeface="IBM Plex Sans"/>
              <a:ea typeface="IBM Plex Sans"/>
              <a:cs typeface="IBM Plex Sans"/>
              <a:sym typeface="IBM Plex Sans"/>
            </a:endParaRPr>
          </a:p>
          <a:p>
            <a:pPr lvl="0">
              <a:lnSpc>
                <a:spcPct val="115000"/>
              </a:lnSpc>
              <a:spcBef>
                <a:spcPts val="1200"/>
              </a:spcBef>
            </a:pPr>
            <a:r>
              <a:rPr lang="en" sz="1400" b="0" i="0" u="none" strike="noStrike" cap="none" dirty="0">
                <a:solidFill>
                  <a:srgbClr val="374151"/>
                </a:solidFill>
                <a:highlight>
                  <a:srgbClr val="FFFFFF"/>
                </a:highlight>
                <a:latin typeface="IBM Plex Sans"/>
                <a:ea typeface="IBM Plex Sans"/>
                <a:cs typeface="IBM Plex Sans"/>
                <a:sym typeface="IBM Plex Sans"/>
              </a:rPr>
              <a:t> </a:t>
            </a:r>
            <a:r>
              <a:rPr lang="en-US" dirty="0">
                <a:highlight>
                  <a:srgbClr val="FFFFFF"/>
                </a:highlight>
              </a:rPr>
              <a:t>An international electronics company struggles to manage a rapidly increasing volume of customer service requests related to orders, warranty claims, and product issues. Manual case handling leads to delayed responses, inconsistent service quality, and poor visibility into resolution performance. The organization needs an intelligent, automated support system that can streamline case routing, prioritize critical issues, and provide AI-assisted responses to improve customer experience and operational efficiency.</a:t>
            </a:r>
            <a:endParaRPr sz="1200" b="0" i="0" u="none" strike="noStrike" cap="none" dirty="0">
              <a:solidFill>
                <a:srgbClr val="374151"/>
              </a:solidFill>
              <a:highlight>
                <a:srgbClr val="FFFFFF"/>
              </a:highlight>
              <a:latin typeface="IBM Plex Sans"/>
              <a:ea typeface="IBM Plex Sans"/>
              <a:cs typeface="IBM Plex Sans"/>
              <a:sym typeface="IBM Plex Sans"/>
            </a:endParaRPr>
          </a:p>
          <a:p>
            <a:pPr marL="0" marR="0" lvl="0" indent="0" algn="l" rtl="0">
              <a:lnSpc>
                <a:spcPct val="115000"/>
              </a:lnSpc>
              <a:spcBef>
                <a:spcPts val="1100"/>
              </a:spcBef>
              <a:spcAft>
                <a:spcPts val="0"/>
              </a:spcAft>
              <a:buClr>
                <a:srgbClr val="000000"/>
              </a:buClr>
              <a:buSzPts val="700"/>
              <a:buFont typeface="Arial"/>
              <a:buNone/>
            </a:pPr>
            <a:endParaRPr sz="700" b="0" i="0" u="none" strike="noStrike" cap="none" dirty="0">
              <a:solidFill>
                <a:srgbClr val="000000"/>
              </a:solidFill>
              <a:latin typeface="Arial"/>
              <a:ea typeface="Arial"/>
              <a:cs typeface="Arial"/>
              <a:sym typeface="Arial"/>
            </a:endParaRPr>
          </a:p>
          <a:p>
            <a:pPr marL="0" marR="0" lvl="0" indent="0" algn="l" rtl="0">
              <a:lnSpc>
                <a:spcPct val="115000"/>
              </a:lnSpc>
              <a:spcBef>
                <a:spcPts val="1100"/>
              </a:spcBef>
              <a:spcAft>
                <a:spcPts val="0"/>
              </a:spcAft>
              <a:buClr>
                <a:srgbClr val="000000"/>
              </a:buClr>
              <a:buSzPts val="1200"/>
              <a:buFont typeface="Arial"/>
              <a:buNone/>
            </a:pPr>
            <a:endParaRPr sz="1200" b="0" i="0" u="none" strike="noStrike" cap="none" dirty="0">
              <a:solidFill>
                <a:schemeClr val="dk1"/>
              </a:solidFill>
              <a:latin typeface="IBM Plex Sans"/>
              <a:ea typeface="IBM Plex Sans"/>
              <a:cs typeface="IBM Plex Sans"/>
              <a:sym typeface="IBM Plex Sans"/>
            </a:endParaRPr>
          </a:p>
        </p:txBody>
      </p:sp>
      <p:sp>
        <p:nvSpPr>
          <p:cNvPr id="147" name="Google Shape;147;p23"/>
          <p:cNvSpPr txBox="1"/>
          <p:nvPr/>
        </p:nvSpPr>
        <p:spPr>
          <a:xfrm>
            <a:off x="514350" y="48940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48" name="Google Shape;148;p23"/>
          <p:cNvSpPr txBox="1"/>
          <p:nvPr/>
        </p:nvSpPr>
        <p:spPr>
          <a:xfrm>
            <a:off x="8491727" y="4894066"/>
            <a:ext cx="276000" cy="1077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700" b="0" i="0" u="none" strike="noStrike" cap="none">
              <a:solidFill>
                <a:srgbClr val="000000"/>
              </a:solidFill>
              <a:latin typeface="Arial"/>
              <a:ea typeface="Arial"/>
              <a:cs typeface="Arial"/>
              <a:sym typeface="Arial"/>
            </a:endParaRPr>
          </a:p>
        </p:txBody>
      </p:sp>
      <p:sp>
        <p:nvSpPr>
          <p:cNvPr id="150" name="Google Shape;150;p23"/>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25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xEl>
                                              <p:pRg st="0" end="0"/>
                                            </p:txEl>
                                          </p:spTgt>
                                        </p:tgtEl>
                                        <p:attrNameLst>
                                          <p:attrName>style.visibility</p:attrName>
                                        </p:attrNameLst>
                                      </p:cBhvr>
                                      <p:to>
                                        <p:strVal val="visible"/>
                                      </p:to>
                                    </p:set>
                                    <p:animEffect transition="in" filter="fade">
                                      <p:cBhvr>
                                        <p:cTn id="12" dur="2500"/>
                                        <p:tgtEl>
                                          <p:spTgt spid="1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6">
                                            <p:txEl>
                                              <p:pRg st="1" end="1"/>
                                            </p:txEl>
                                          </p:spTgt>
                                        </p:tgtEl>
                                        <p:attrNameLst>
                                          <p:attrName>style.visibility</p:attrName>
                                        </p:attrNameLst>
                                      </p:cBhvr>
                                      <p:to>
                                        <p:strVal val="visible"/>
                                      </p:to>
                                    </p:set>
                                    <p:animEffect transition="in" filter="fade">
                                      <p:cBhvr>
                                        <p:cTn id="17" dur="2500"/>
                                        <p:tgtEl>
                                          <p:spTgt spid="1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54"/>
        <p:cNvGrpSpPr/>
        <p:nvPr/>
      </p:nvGrpSpPr>
      <p:grpSpPr>
        <a:xfrm>
          <a:off x="0" y="0"/>
          <a:ext cx="0" cy="0"/>
          <a:chOff x="0" y="0"/>
          <a:chExt cx="0" cy="0"/>
        </a:xfrm>
      </p:grpSpPr>
      <p:sp>
        <p:nvSpPr>
          <p:cNvPr id="155" name="Google Shape;155;p24"/>
          <p:cNvSpPr/>
          <p:nvPr/>
        </p:nvSpPr>
        <p:spPr>
          <a:xfrm>
            <a:off x="3477200" y="639050"/>
            <a:ext cx="5310188" cy="4051125"/>
          </a:xfrm>
          <a:custGeom>
            <a:avLst/>
            <a:gdLst/>
            <a:ahLst/>
            <a:cxnLst/>
            <a:rect l="l" t="t" r="r" b="b"/>
            <a:pathLst>
              <a:path w="10620375" h="7753350" extrusionOk="0">
                <a:moveTo>
                  <a:pt x="10179749" y="7753334"/>
                </a:moveTo>
                <a:lnTo>
                  <a:pt x="440625" y="7753334"/>
                </a:lnTo>
                <a:lnTo>
                  <a:pt x="392469" y="7750761"/>
                </a:lnTo>
                <a:lnTo>
                  <a:pt x="345851" y="7743218"/>
                </a:lnTo>
                <a:lnTo>
                  <a:pt x="301035" y="7730968"/>
                </a:lnTo>
                <a:lnTo>
                  <a:pt x="258284" y="7714277"/>
                </a:lnTo>
                <a:lnTo>
                  <a:pt x="217864" y="7693408"/>
                </a:lnTo>
                <a:lnTo>
                  <a:pt x="180039" y="7668626"/>
                </a:lnTo>
                <a:lnTo>
                  <a:pt x="145073" y="7640194"/>
                </a:lnTo>
                <a:lnTo>
                  <a:pt x="113230" y="7608377"/>
                </a:lnTo>
                <a:lnTo>
                  <a:pt x="84776" y="7573439"/>
                </a:lnTo>
                <a:lnTo>
                  <a:pt x="59973" y="7535645"/>
                </a:lnTo>
                <a:lnTo>
                  <a:pt x="39088" y="7495257"/>
                </a:lnTo>
                <a:lnTo>
                  <a:pt x="22383" y="7452541"/>
                </a:lnTo>
                <a:lnTo>
                  <a:pt x="10124" y="7407761"/>
                </a:lnTo>
                <a:lnTo>
                  <a:pt x="2575" y="7361180"/>
                </a:lnTo>
                <a:lnTo>
                  <a:pt x="0" y="7313064"/>
                </a:lnTo>
                <a:lnTo>
                  <a:pt x="0" y="440270"/>
                </a:lnTo>
                <a:lnTo>
                  <a:pt x="2575" y="392153"/>
                </a:lnTo>
                <a:lnTo>
                  <a:pt x="10124" y="345573"/>
                </a:lnTo>
                <a:lnTo>
                  <a:pt x="22383" y="300792"/>
                </a:lnTo>
                <a:lnTo>
                  <a:pt x="39088" y="258076"/>
                </a:lnTo>
                <a:lnTo>
                  <a:pt x="59973" y="217689"/>
                </a:lnTo>
                <a:lnTo>
                  <a:pt x="84776" y="179894"/>
                </a:lnTo>
                <a:lnTo>
                  <a:pt x="113230" y="144956"/>
                </a:lnTo>
                <a:lnTo>
                  <a:pt x="145073" y="113139"/>
                </a:lnTo>
                <a:lnTo>
                  <a:pt x="180039" y="84708"/>
                </a:lnTo>
                <a:lnTo>
                  <a:pt x="217864" y="59925"/>
                </a:lnTo>
                <a:lnTo>
                  <a:pt x="258284" y="39056"/>
                </a:lnTo>
                <a:lnTo>
                  <a:pt x="301035" y="22365"/>
                </a:lnTo>
                <a:lnTo>
                  <a:pt x="345851" y="10116"/>
                </a:lnTo>
                <a:lnTo>
                  <a:pt x="392469" y="2573"/>
                </a:lnTo>
                <a:lnTo>
                  <a:pt x="440625" y="0"/>
                </a:lnTo>
                <a:lnTo>
                  <a:pt x="10179749" y="0"/>
                </a:lnTo>
                <a:lnTo>
                  <a:pt x="10227904" y="2573"/>
                </a:lnTo>
                <a:lnTo>
                  <a:pt x="10274522" y="10116"/>
                </a:lnTo>
                <a:lnTo>
                  <a:pt x="10319339" y="22365"/>
                </a:lnTo>
                <a:lnTo>
                  <a:pt x="10362089" y="39056"/>
                </a:lnTo>
                <a:lnTo>
                  <a:pt x="10402509" y="59925"/>
                </a:lnTo>
                <a:lnTo>
                  <a:pt x="10440334" y="84708"/>
                </a:lnTo>
                <a:lnTo>
                  <a:pt x="10475300" y="113139"/>
                </a:lnTo>
                <a:lnTo>
                  <a:pt x="10507143" y="144956"/>
                </a:lnTo>
                <a:lnTo>
                  <a:pt x="10535598" y="179894"/>
                </a:lnTo>
                <a:lnTo>
                  <a:pt x="10560400" y="217689"/>
                </a:lnTo>
                <a:lnTo>
                  <a:pt x="10581286" y="258076"/>
                </a:lnTo>
                <a:lnTo>
                  <a:pt x="10597990" y="300792"/>
                </a:lnTo>
                <a:lnTo>
                  <a:pt x="10610249" y="345573"/>
                </a:lnTo>
                <a:lnTo>
                  <a:pt x="10617799" y="392153"/>
                </a:lnTo>
                <a:lnTo>
                  <a:pt x="10620374" y="440270"/>
                </a:lnTo>
                <a:lnTo>
                  <a:pt x="10620374" y="7313064"/>
                </a:lnTo>
                <a:lnTo>
                  <a:pt x="10617799" y="7361180"/>
                </a:lnTo>
                <a:lnTo>
                  <a:pt x="10610249" y="7407761"/>
                </a:lnTo>
                <a:lnTo>
                  <a:pt x="10597990" y="7452541"/>
                </a:lnTo>
                <a:lnTo>
                  <a:pt x="10581286" y="7495257"/>
                </a:lnTo>
                <a:lnTo>
                  <a:pt x="10560400" y="7535645"/>
                </a:lnTo>
                <a:lnTo>
                  <a:pt x="10535598" y="7573439"/>
                </a:lnTo>
                <a:lnTo>
                  <a:pt x="10507143" y="7608377"/>
                </a:lnTo>
                <a:lnTo>
                  <a:pt x="10475300" y="7640194"/>
                </a:lnTo>
                <a:lnTo>
                  <a:pt x="10440334" y="7668626"/>
                </a:lnTo>
                <a:lnTo>
                  <a:pt x="10402509" y="7693408"/>
                </a:lnTo>
                <a:lnTo>
                  <a:pt x="10362089" y="7714277"/>
                </a:lnTo>
                <a:lnTo>
                  <a:pt x="10319339" y="7730968"/>
                </a:lnTo>
                <a:lnTo>
                  <a:pt x="10274522" y="7743218"/>
                </a:lnTo>
                <a:lnTo>
                  <a:pt x="10227904" y="7750761"/>
                </a:lnTo>
                <a:lnTo>
                  <a:pt x="10179749" y="7753334"/>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56" name="Google Shape;156;p24"/>
          <p:cNvSpPr txBox="1"/>
          <p:nvPr/>
        </p:nvSpPr>
        <p:spPr>
          <a:xfrm>
            <a:off x="3477200" y="699012"/>
            <a:ext cx="5061000" cy="3931200"/>
          </a:xfrm>
          <a:prstGeom prst="rect">
            <a:avLst/>
          </a:prstGeom>
          <a:noFill/>
          <a:ln>
            <a:noFill/>
          </a:ln>
        </p:spPr>
        <p:txBody>
          <a:bodyPr spcFirstLastPara="1" wrap="square" lIns="45725" tIns="22850" rIns="45725" bIns="22850" anchor="t" anchorCtr="0">
            <a:noAutofit/>
          </a:bodyPr>
          <a:lstStyle/>
          <a:p>
            <a:pPr marL="12700" marR="0" lvl="0" indent="0" algn="l" rtl="0">
              <a:lnSpc>
                <a:spcPct val="100000"/>
              </a:lnSpc>
              <a:spcBef>
                <a:spcPts val="0"/>
              </a:spcBef>
              <a:spcAft>
                <a:spcPts val="0"/>
              </a:spcAft>
              <a:buClr>
                <a:srgbClr val="000000"/>
              </a:buClr>
              <a:buSzPts val="1400"/>
              <a:buFont typeface="Arial"/>
              <a:buNone/>
            </a:pPr>
            <a:r>
              <a:rPr lang="en" sz="1200" b="0" i="0" u="none" strike="noStrike" cap="none" dirty="0">
                <a:solidFill>
                  <a:srgbClr val="21299A"/>
                </a:solidFill>
                <a:latin typeface="IBM Plex Sans"/>
                <a:ea typeface="IBM Plex Sans"/>
                <a:cs typeface="IBM Plex Sans"/>
                <a:sym typeface="IBM Plex Sans"/>
              </a:rPr>
              <a:t>Social Impact</a:t>
            </a:r>
            <a:endParaRPr sz="1200" b="0" i="0" u="none" strike="noStrike" cap="none" dirty="0">
              <a:solidFill>
                <a:srgbClr val="000000"/>
              </a:solidFill>
              <a:latin typeface="IBM Plex Sans"/>
              <a:ea typeface="IBM Plex Sans"/>
              <a:cs typeface="IBM Plex Sans"/>
              <a:sym typeface="IBM Plex Sans"/>
            </a:endParaRPr>
          </a:p>
          <a:p>
            <a:pPr marL="241300" lvl="0" indent="-228600">
              <a:spcBef>
                <a:spcPts val="600"/>
              </a:spcBef>
              <a:buSzPts val="1200"/>
              <a:buFont typeface="Arial"/>
              <a:buChar char="•"/>
            </a:pPr>
            <a:r>
              <a:rPr lang="en-US" sz="1200" dirty="0"/>
              <a:t>Improves customer satisfaction by ensuring faster issue resolution and reliable service support.</a:t>
            </a:r>
            <a:br>
              <a:rPr lang="en-US" sz="1200" dirty="0"/>
            </a:br>
            <a:r>
              <a:rPr lang="en-US" sz="1200" dirty="0"/>
              <a:t>Enhances trust in digital customer service through AI-assisted interactions.</a:t>
            </a:r>
          </a:p>
          <a:p>
            <a:pPr marL="12700" lvl="0">
              <a:spcBef>
                <a:spcPts val="600"/>
              </a:spcBef>
              <a:buSzPts val="1200"/>
            </a:pPr>
            <a:r>
              <a:rPr lang="en" sz="1200" b="0" i="0" u="none" strike="noStrike" cap="none" dirty="0">
                <a:solidFill>
                  <a:srgbClr val="21299A"/>
                </a:solidFill>
                <a:latin typeface="IBM Plex Sans"/>
                <a:ea typeface="IBM Plex Sans"/>
                <a:cs typeface="IBM Plex Sans"/>
                <a:sym typeface="IBM Plex Sans"/>
              </a:rPr>
              <a:t>Business Model/Impact</a:t>
            </a:r>
          </a:p>
          <a:p>
            <a:pPr marL="12700" lvl="0">
              <a:spcBef>
                <a:spcPts val="600"/>
              </a:spcBef>
              <a:buSzPts val="1200"/>
            </a:pPr>
            <a:r>
              <a:rPr lang="en-US" sz="1200" dirty="0"/>
              <a:t>Reduces manual workload and operational costs.</a:t>
            </a:r>
            <a:br>
              <a:rPr lang="en-US" sz="1200" dirty="0"/>
            </a:br>
            <a:r>
              <a:rPr lang="en-US" sz="1200" dirty="0"/>
              <a:t>Increases support efficiency and scalability.</a:t>
            </a:r>
            <a:endParaRPr sz="1200" b="0" i="0" u="none" strike="noStrike" cap="none" dirty="0">
              <a:solidFill>
                <a:srgbClr val="000000"/>
              </a:solidFill>
              <a:latin typeface="IBM Plex Sans"/>
              <a:ea typeface="IBM Plex Sans"/>
              <a:cs typeface="IBM Plex Sans"/>
              <a:sym typeface="IBM Plex Sans"/>
            </a:endParaRPr>
          </a:p>
          <a:p>
            <a:pPr marL="12700" marR="0" lvl="0" indent="0" algn="l" rtl="0">
              <a:lnSpc>
                <a:spcPct val="100000"/>
              </a:lnSpc>
              <a:spcBef>
                <a:spcPts val="0"/>
              </a:spcBef>
              <a:spcAft>
                <a:spcPts val="0"/>
              </a:spcAft>
              <a:buClr>
                <a:srgbClr val="000000"/>
              </a:buClr>
              <a:buSzPts val="1400"/>
              <a:buFont typeface="Arial"/>
              <a:buNone/>
            </a:pPr>
            <a:endParaRPr sz="1200" dirty="0">
              <a:solidFill>
                <a:srgbClr val="21299A"/>
              </a:solidFill>
              <a:latin typeface="IBM Plex Sans"/>
              <a:ea typeface="IBM Plex Sans"/>
              <a:cs typeface="IBM Plex Sans"/>
              <a:sym typeface="IBM Plex Sans"/>
            </a:endParaRPr>
          </a:p>
          <a:p>
            <a:pPr marL="12700" marR="0" lvl="0" indent="0" algn="l" rtl="0">
              <a:lnSpc>
                <a:spcPct val="100000"/>
              </a:lnSpc>
              <a:spcBef>
                <a:spcPts val="0"/>
              </a:spcBef>
              <a:spcAft>
                <a:spcPts val="0"/>
              </a:spcAft>
              <a:buClr>
                <a:srgbClr val="000000"/>
              </a:buClr>
              <a:buSzPts val="1400"/>
              <a:buFont typeface="Arial"/>
              <a:buNone/>
            </a:pPr>
            <a:r>
              <a:rPr lang="en" sz="1200" b="0" i="0" u="none" strike="noStrike" cap="none" dirty="0">
                <a:solidFill>
                  <a:srgbClr val="21299A"/>
                </a:solidFill>
                <a:latin typeface="IBM Plex Sans"/>
                <a:ea typeface="IBM Plex Sans"/>
                <a:cs typeface="IBM Plex Sans"/>
                <a:sym typeface="IBM Plex Sans"/>
              </a:rPr>
              <a:t>Recommended Technology Stack</a:t>
            </a:r>
          </a:p>
          <a:p>
            <a:pPr marL="12700" lvl="0">
              <a:buSzPts val="1400"/>
            </a:pPr>
            <a:r>
              <a:rPr lang="en-IN" sz="1200" dirty="0"/>
              <a:t>Salesforce Service Cloud</a:t>
            </a:r>
            <a:br>
              <a:rPr lang="en-IN" sz="1200" dirty="0"/>
            </a:br>
            <a:r>
              <a:rPr lang="en-IN" sz="1200" dirty="0"/>
              <a:t>Salesforce Flows &amp; Automation</a:t>
            </a:r>
            <a:br>
              <a:rPr lang="en-IN" sz="1200" dirty="0"/>
            </a:br>
            <a:r>
              <a:rPr lang="en-IN" sz="1200" dirty="0"/>
              <a:t>Agentforce (AI Service Agent)</a:t>
            </a:r>
            <a:br>
              <a:rPr lang="en-IN" sz="1200" dirty="0"/>
            </a:br>
            <a:r>
              <a:rPr lang="en-IN" sz="1200" dirty="0"/>
              <a:t>Reports &amp; Dashboards</a:t>
            </a:r>
            <a:endParaRPr lang="en" sz="1200" dirty="0">
              <a:latin typeface="IBM Plex Sans"/>
              <a:ea typeface="IBM Plex Sans"/>
              <a:cs typeface="IBM Plex Sans"/>
              <a:sym typeface="IBM Plex Sans"/>
            </a:endParaRPr>
          </a:p>
          <a:p>
            <a:pPr marL="0" marR="0" lvl="0" indent="0" algn="l" rtl="0">
              <a:lnSpc>
                <a:spcPct val="100000"/>
              </a:lnSpc>
              <a:spcBef>
                <a:spcPts val="0"/>
              </a:spcBef>
              <a:spcAft>
                <a:spcPts val="0"/>
              </a:spcAft>
              <a:buNone/>
            </a:pPr>
            <a:endParaRPr sz="1200" dirty="0">
              <a:solidFill>
                <a:srgbClr val="21299A"/>
              </a:solidFill>
              <a:latin typeface="IBM Plex Sans"/>
              <a:ea typeface="IBM Plex Sans"/>
              <a:cs typeface="IBM Plex Sans"/>
              <a:sym typeface="IBM Plex Sans"/>
            </a:endParaRPr>
          </a:p>
          <a:p>
            <a:pPr marL="0" marR="0" lvl="0" indent="0" algn="l" rtl="0">
              <a:lnSpc>
                <a:spcPct val="115000"/>
              </a:lnSpc>
              <a:spcBef>
                <a:spcPts val="0"/>
              </a:spcBef>
              <a:spcAft>
                <a:spcPts val="0"/>
              </a:spcAft>
              <a:buClr>
                <a:schemeClr val="dk1"/>
              </a:buClr>
              <a:buSzPts val="800"/>
              <a:buFont typeface="Arial"/>
              <a:buNone/>
            </a:pPr>
            <a:endParaRPr sz="10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0" marR="0" lvl="0" indent="0" algn="l" rtl="0">
              <a:lnSpc>
                <a:spcPct val="115000"/>
              </a:lnSpc>
              <a:spcBef>
                <a:spcPts val="0"/>
              </a:spcBef>
              <a:spcAft>
                <a:spcPts val="0"/>
              </a:spcAft>
              <a:buClr>
                <a:srgbClr val="000000"/>
              </a:buClr>
              <a:buSzPts val="1000"/>
              <a:buFont typeface="Arial"/>
              <a:buNone/>
            </a:pPr>
            <a:endParaRPr sz="1000" b="0" i="0" u="none" strike="noStrike" cap="none" dirty="0">
              <a:solidFill>
                <a:srgbClr val="37415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rgbClr val="000000"/>
              </a:buClr>
              <a:buSzPts val="1000"/>
              <a:buFont typeface="Arial"/>
              <a:buNone/>
            </a:pPr>
            <a:endParaRPr sz="1000" b="0" i="0" u="none" strike="noStrike" cap="none" dirty="0">
              <a:solidFill>
                <a:srgbClr val="000000"/>
              </a:solidFill>
              <a:highlight>
                <a:schemeClr val="lt2"/>
              </a:highlight>
              <a:latin typeface="IBM Plex Sans"/>
              <a:ea typeface="IBM Plex Sans"/>
              <a:cs typeface="IBM Plex Sans"/>
              <a:sym typeface="IBM Plex Sans"/>
            </a:endParaRPr>
          </a:p>
        </p:txBody>
      </p:sp>
      <p:sp>
        <p:nvSpPr>
          <p:cNvPr id="157" name="Google Shape;157;p24"/>
          <p:cNvSpPr txBox="1"/>
          <p:nvPr/>
        </p:nvSpPr>
        <p:spPr>
          <a:xfrm>
            <a:off x="288950" y="787313"/>
            <a:ext cx="2590800" cy="2311412"/>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- 4:</a:t>
            </a:r>
            <a:endParaRPr dirty="0"/>
          </a:p>
          <a:p>
            <a:pPr marL="0" marR="0" lvl="0" indent="0" algn="l" rtl="0">
              <a:lnSpc>
                <a:spcPct val="90000"/>
              </a:lnSpc>
              <a:spcBef>
                <a:spcPts val="0"/>
              </a:spcBef>
              <a:spcAft>
                <a:spcPts val="0"/>
              </a:spcAft>
              <a:buClr>
                <a:srgbClr val="000000"/>
              </a:buClr>
              <a:buSzPts val="2000"/>
              <a:buFont typeface="Arial"/>
              <a:buNone/>
            </a:pPr>
            <a:endParaRPr lang="en-IN" sz="2000" b="0"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000"/>
              <a:buFont typeface="Arial"/>
              <a:buNone/>
            </a:pPr>
            <a:r>
              <a:rPr lang="en-IN" sz="2000" b="0" i="0" u="none" strike="noStrike" cap="none" dirty="0">
                <a:solidFill>
                  <a:schemeClr val="dk1"/>
                </a:solidFill>
                <a:latin typeface="Arial"/>
                <a:ea typeface="Arial"/>
                <a:cs typeface="Arial"/>
                <a:sym typeface="Arial"/>
              </a:rPr>
              <a:t>AI- Powered Customer Support &amp; Service Automation</a:t>
            </a:r>
            <a:endParaRPr sz="20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0"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p:txBody>
      </p:sp>
      <p:sp>
        <p:nvSpPr>
          <p:cNvPr id="158" name="Google Shape;158;p24"/>
          <p:cNvSpPr txBox="1"/>
          <p:nvPr/>
        </p:nvSpPr>
        <p:spPr>
          <a:xfrm>
            <a:off x="514350" y="47416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59" name="Google Shape;159;p24"/>
          <p:cNvSpPr txBox="1"/>
          <p:nvPr/>
        </p:nvSpPr>
        <p:spPr>
          <a:xfrm>
            <a:off x="8491727" y="4741666"/>
            <a:ext cx="2760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1200" b="1" i="0" u="none" strike="noStrike" cap="none">
              <a:solidFill>
                <a:srgbClr val="21295C"/>
              </a:solidFill>
              <a:latin typeface="Montserrat"/>
              <a:ea typeface="Montserrat"/>
              <a:cs typeface="Montserrat"/>
              <a:sym typeface="Montserrat"/>
            </a:endParaRPr>
          </a:p>
        </p:txBody>
      </p:sp>
      <p:sp>
        <p:nvSpPr>
          <p:cNvPr id="161" name="Google Shape;161;p24"/>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animEffect transition="in" filter="fade">
                                      <p:cBhvr>
                                        <p:cTn id="7" dur="2500"/>
                                        <p:tgtEl>
                                          <p:spTgt spid="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xEl>
                                              <p:pRg st="1" end="1"/>
                                            </p:txEl>
                                          </p:spTgt>
                                        </p:tgtEl>
                                        <p:attrNameLst>
                                          <p:attrName>style.visibility</p:attrName>
                                        </p:attrNameLst>
                                      </p:cBhvr>
                                      <p:to>
                                        <p:strVal val="visible"/>
                                      </p:to>
                                    </p:set>
                                    <p:animEffect transition="in" filter="fade">
                                      <p:cBhvr>
                                        <p:cTn id="12" dur="2500"/>
                                        <p:tgtEl>
                                          <p:spTgt spid="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Effect transition="in" filter="fade">
                                      <p:cBhvr>
                                        <p:cTn id="17" dur="2500"/>
                                        <p:tgtEl>
                                          <p:spTgt spid="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Effect transition="in" filter="fade">
                                      <p:cBhvr>
                                        <p:cTn id="22" dur="2500"/>
                                        <p:tgtEl>
                                          <p:spTgt spid="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6">
                                            <p:txEl>
                                              <p:pRg st="5" end="5"/>
                                            </p:txEl>
                                          </p:spTgt>
                                        </p:tgtEl>
                                        <p:attrNameLst>
                                          <p:attrName>style.visibility</p:attrName>
                                        </p:attrNameLst>
                                      </p:cBhvr>
                                      <p:to>
                                        <p:strVal val="visible"/>
                                      </p:to>
                                    </p:set>
                                    <p:animEffect transition="in" filter="fade">
                                      <p:cBhvr>
                                        <p:cTn id="27" dur="2500"/>
                                        <p:tgtEl>
                                          <p:spTgt spid="15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6">
                                            <p:txEl>
                                              <p:pRg st="6" end="6"/>
                                            </p:txEl>
                                          </p:spTgt>
                                        </p:tgtEl>
                                        <p:attrNameLst>
                                          <p:attrName>style.visibility</p:attrName>
                                        </p:attrNameLst>
                                      </p:cBhvr>
                                      <p:to>
                                        <p:strVal val="visible"/>
                                      </p:to>
                                    </p:set>
                                    <p:animEffect transition="in" filter="fade">
                                      <p:cBhvr>
                                        <p:cTn id="32" dur="2500"/>
                                        <p:tgtEl>
                                          <p:spTgt spid="1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p:nvPr/>
        </p:nvSpPr>
        <p:spPr>
          <a:xfrm>
            <a:off x="219325" y="675338"/>
            <a:ext cx="2590800" cy="2031335"/>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None/>
            </a:pPr>
            <a:r>
              <a:rPr lang="en" sz="2000" b="0" i="0" u="none" strike="noStrike" cap="none" dirty="0">
                <a:solidFill>
                  <a:srgbClr val="21299A"/>
                </a:solidFill>
                <a:latin typeface="IBM Plex Sans"/>
                <a:ea typeface="IBM Plex Sans"/>
                <a:cs typeface="IBM Plex Sans"/>
                <a:sym typeface="IBM Plex Sans"/>
              </a:rPr>
              <a:t>Use-Case - 5: </a:t>
            </a:r>
          </a:p>
          <a:p>
            <a:pPr marL="0" marR="0" lvl="0" indent="0" algn="l" rtl="0">
              <a:lnSpc>
                <a:spcPct val="90000"/>
              </a:lnSpc>
              <a:spcBef>
                <a:spcPts val="0"/>
              </a:spcBef>
              <a:spcAft>
                <a:spcPts val="0"/>
              </a:spcAft>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None/>
            </a:pPr>
            <a:r>
              <a:rPr lang="en-IN" sz="2000" b="0" i="0" u="none" strike="noStrike" cap="none" dirty="0">
                <a:solidFill>
                  <a:schemeClr val="dk1"/>
                </a:solidFill>
                <a:latin typeface="Arial"/>
                <a:ea typeface="Arial"/>
                <a:cs typeface="Arial"/>
                <a:sym typeface="Arial"/>
              </a:rPr>
              <a:t>AI- Powered Customer Support Ticketing System</a:t>
            </a:r>
            <a:endParaRPr sz="2000" b="1"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p:txBody>
      </p:sp>
      <p:sp>
        <p:nvSpPr>
          <p:cNvPr id="167" name="Google Shape;167;p25"/>
          <p:cNvSpPr txBox="1"/>
          <p:nvPr/>
        </p:nvSpPr>
        <p:spPr>
          <a:xfrm>
            <a:off x="3272292" y="712855"/>
            <a:ext cx="5529300" cy="33444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500"/>
              </a:spcBef>
              <a:spcAft>
                <a:spcPts val="0"/>
              </a:spcAft>
              <a:buClr>
                <a:srgbClr val="000000"/>
              </a:buClr>
              <a:buSzPts val="1700"/>
              <a:buFont typeface="Arial"/>
              <a:buNone/>
            </a:pPr>
            <a:r>
              <a:rPr lang="en" sz="1700" b="1" i="0" u="none" strike="noStrike" cap="none" dirty="0">
                <a:solidFill>
                  <a:srgbClr val="21299A"/>
                </a:solidFill>
                <a:latin typeface="IBM Plex Sans"/>
                <a:ea typeface="IBM Plex Sans"/>
                <a:cs typeface="IBM Plex Sans"/>
                <a:sym typeface="IBM Plex Sans"/>
              </a:rPr>
              <a:t>Project Problem Statement</a:t>
            </a:r>
            <a:r>
              <a:rPr lang="en" sz="1700" b="0" i="0" u="none" strike="noStrike" cap="none" dirty="0">
                <a:solidFill>
                  <a:schemeClr val="dk1"/>
                </a:solidFill>
                <a:latin typeface="IBM Plex Sans"/>
                <a:ea typeface="IBM Plex Sans"/>
                <a:cs typeface="IBM Plex Sans"/>
                <a:sym typeface="IBM Plex Sans"/>
              </a:rPr>
              <a:t> :</a:t>
            </a:r>
            <a:endParaRPr dirty="0"/>
          </a:p>
          <a:p>
            <a:pPr marL="0" marR="0" lvl="0" indent="0" algn="l" rtl="0">
              <a:lnSpc>
                <a:spcPct val="115000"/>
              </a:lnSpc>
              <a:spcBef>
                <a:spcPts val="500"/>
              </a:spcBef>
              <a:spcAft>
                <a:spcPts val="0"/>
              </a:spcAft>
              <a:buClr>
                <a:srgbClr val="000000"/>
              </a:buClr>
              <a:buSzPts val="1700"/>
              <a:buFont typeface="Arial"/>
              <a:buNone/>
            </a:pPr>
            <a:endParaRPr sz="1700" b="0" i="0" u="none" strike="noStrike" cap="none" dirty="0">
              <a:solidFill>
                <a:schemeClr val="dk1"/>
              </a:solidFill>
              <a:latin typeface="IBM Plex Sans"/>
              <a:ea typeface="IBM Plex Sans"/>
              <a:cs typeface="IBM Plex Sans"/>
              <a:sym typeface="IBM Plex Sans"/>
            </a:endParaRPr>
          </a:p>
          <a:p>
            <a:pPr lvl="0"/>
            <a:r>
              <a:rPr lang="en-US" dirty="0">
                <a:highlight>
                  <a:srgbClr val="FFFFFF"/>
                </a:highlight>
              </a:rPr>
              <a:t>Customer support teams often struggle with manually managing large volumes of tickets, leading to delayed responses, inconsistent prioritization, and poor customer experience. Without automation and AI-driven insights, support agents spend excessive time analyzing issues instead of resolving them. Organizations need an intelligent ticketing system that can automatically classify cases, suggest responses, prioritize urgent issues, and help teams maintain SLA commitments while improving overall service efficiency.</a:t>
            </a:r>
            <a:endParaRPr sz="700" b="0" i="0" u="none" strike="noStrike" cap="none" dirty="0">
              <a:solidFill>
                <a:srgbClr val="000000"/>
              </a:solidFill>
              <a:latin typeface="Arial"/>
              <a:ea typeface="Arial"/>
              <a:cs typeface="Arial"/>
              <a:sym typeface="Arial"/>
            </a:endParaRPr>
          </a:p>
          <a:p>
            <a:pPr marL="0" marR="0" lvl="0" indent="0" algn="l" rtl="0">
              <a:lnSpc>
                <a:spcPct val="115000"/>
              </a:lnSpc>
              <a:spcBef>
                <a:spcPts val="1100"/>
              </a:spcBef>
              <a:spcAft>
                <a:spcPts val="0"/>
              </a:spcAft>
              <a:buClr>
                <a:srgbClr val="000000"/>
              </a:buClr>
              <a:buSzPts val="1200"/>
              <a:buFont typeface="Arial"/>
              <a:buNone/>
            </a:pPr>
            <a:endParaRPr sz="1200" b="0" i="0" u="none" strike="noStrike" cap="none" dirty="0">
              <a:solidFill>
                <a:schemeClr val="dk1"/>
              </a:solidFill>
              <a:latin typeface="IBM Plex Sans"/>
              <a:ea typeface="IBM Plex Sans"/>
              <a:cs typeface="IBM Plex Sans"/>
              <a:sym typeface="IBM Plex Sans"/>
            </a:endParaRPr>
          </a:p>
        </p:txBody>
      </p:sp>
      <p:sp>
        <p:nvSpPr>
          <p:cNvPr id="168" name="Google Shape;168;p25"/>
          <p:cNvSpPr txBox="1"/>
          <p:nvPr/>
        </p:nvSpPr>
        <p:spPr>
          <a:xfrm>
            <a:off x="514350" y="48940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70" name="Google Shape;170;p25"/>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25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7">
                                            <p:txEl>
                                              <p:pRg st="0" end="0"/>
                                            </p:txEl>
                                          </p:spTgt>
                                        </p:tgtEl>
                                        <p:attrNameLst>
                                          <p:attrName>style.visibility</p:attrName>
                                        </p:attrNameLst>
                                      </p:cBhvr>
                                      <p:to>
                                        <p:strVal val="visible"/>
                                      </p:to>
                                    </p:set>
                                    <p:animEffect transition="in" filter="fade">
                                      <p:cBhvr>
                                        <p:cTn id="12" dur="2500"/>
                                        <p:tgtEl>
                                          <p:spTgt spid="1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7">
                                            <p:txEl>
                                              <p:pRg st="2" end="2"/>
                                            </p:txEl>
                                          </p:spTgt>
                                        </p:tgtEl>
                                        <p:attrNameLst>
                                          <p:attrName>style.visibility</p:attrName>
                                        </p:attrNameLst>
                                      </p:cBhvr>
                                      <p:to>
                                        <p:strVal val="visible"/>
                                      </p:to>
                                    </p:set>
                                    <p:animEffect transition="in" filter="fade">
                                      <p:cBhvr>
                                        <p:cTn id="17" dur="2500"/>
                                        <p:tgtEl>
                                          <p:spTgt spid="1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26"/>
          <p:cNvSpPr/>
          <p:nvPr/>
        </p:nvSpPr>
        <p:spPr>
          <a:xfrm>
            <a:off x="3477200" y="639050"/>
            <a:ext cx="5310188" cy="4051125"/>
          </a:xfrm>
          <a:custGeom>
            <a:avLst/>
            <a:gdLst/>
            <a:ahLst/>
            <a:cxnLst/>
            <a:rect l="l" t="t" r="r" b="b"/>
            <a:pathLst>
              <a:path w="10620375" h="7753350" extrusionOk="0">
                <a:moveTo>
                  <a:pt x="10179749" y="7753334"/>
                </a:moveTo>
                <a:lnTo>
                  <a:pt x="440625" y="7753334"/>
                </a:lnTo>
                <a:lnTo>
                  <a:pt x="392469" y="7750761"/>
                </a:lnTo>
                <a:lnTo>
                  <a:pt x="345851" y="7743218"/>
                </a:lnTo>
                <a:lnTo>
                  <a:pt x="301035" y="7730968"/>
                </a:lnTo>
                <a:lnTo>
                  <a:pt x="258284" y="7714277"/>
                </a:lnTo>
                <a:lnTo>
                  <a:pt x="217864" y="7693408"/>
                </a:lnTo>
                <a:lnTo>
                  <a:pt x="180039" y="7668626"/>
                </a:lnTo>
                <a:lnTo>
                  <a:pt x="145073" y="7640194"/>
                </a:lnTo>
                <a:lnTo>
                  <a:pt x="113230" y="7608377"/>
                </a:lnTo>
                <a:lnTo>
                  <a:pt x="84776" y="7573439"/>
                </a:lnTo>
                <a:lnTo>
                  <a:pt x="59973" y="7535645"/>
                </a:lnTo>
                <a:lnTo>
                  <a:pt x="39088" y="7495257"/>
                </a:lnTo>
                <a:lnTo>
                  <a:pt x="22383" y="7452541"/>
                </a:lnTo>
                <a:lnTo>
                  <a:pt x="10124" y="7407761"/>
                </a:lnTo>
                <a:lnTo>
                  <a:pt x="2575" y="7361180"/>
                </a:lnTo>
                <a:lnTo>
                  <a:pt x="0" y="7313064"/>
                </a:lnTo>
                <a:lnTo>
                  <a:pt x="0" y="440270"/>
                </a:lnTo>
                <a:lnTo>
                  <a:pt x="2575" y="392153"/>
                </a:lnTo>
                <a:lnTo>
                  <a:pt x="10124" y="345573"/>
                </a:lnTo>
                <a:lnTo>
                  <a:pt x="22383" y="300792"/>
                </a:lnTo>
                <a:lnTo>
                  <a:pt x="39088" y="258076"/>
                </a:lnTo>
                <a:lnTo>
                  <a:pt x="59973" y="217689"/>
                </a:lnTo>
                <a:lnTo>
                  <a:pt x="84776" y="179894"/>
                </a:lnTo>
                <a:lnTo>
                  <a:pt x="113230" y="144956"/>
                </a:lnTo>
                <a:lnTo>
                  <a:pt x="145073" y="113139"/>
                </a:lnTo>
                <a:lnTo>
                  <a:pt x="180039" y="84708"/>
                </a:lnTo>
                <a:lnTo>
                  <a:pt x="217864" y="59925"/>
                </a:lnTo>
                <a:lnTo>
                  <a:pt x="258284" y="39056"/>
                </a:lnTo>
                <a:lnTo>
                  <a:pt x="301035" y="22365"/>
                </a:lnTo>
                <a:lnTo>
                  <a:pt x="345851" y="10116"/>
                </a:lnTo>
                <a:lnTo>
                  <a:pt x="392469" y="2573"/>
                </a:lnTo>
                <a:lnTo>
                  <a:pt x="440625" y="0"/>
                </a:lnTo>
                <a:lnTo>
                  <a:pt x="10179749" y="0"/>
                </a:lnTo>
                <a:lnTo>
                  <a:pt x="10227904" y="2573"/>
                </a:lnTo>
                <a:lnTo>
                  <a:pt x="10274522" y="10116"/>
                </a:lnTo>
                <a:lnTo>
                  <a:pt x="10319339" y="22365"/>
                </a:lnTo>
                <a:lnTo>
                  <a:pt x="10362089" y="39056"/>
                </a:lnTo>
                <a:lnTo>
                  <a:pt x="10402509" y="59925"/>
                </a:lnTo>
                <a:lnTo>
                  <a:pt x="10440334" y="84708"/>
                </a:lnTo>
                <a:lnTo>
                  <a:pt x="10475300" y="113139"/>
                </a:lnTo>
                <a:lnTo>
                  <a:pt x="10507143" y="144956"/>
                </a:lnTo>
                <a:lnTo>
                  <a:pt x="10535598" y="179894"/>
                </a:lnTo>
                <a:lnTo>
                  <a:pt x="10560400" y="217689"/>
                </a:lnTo>
                <a:lnTo>
                  <a:pt x="10581286" y="258076"/>
                </a:lnTo>
                <a:lnTo>
                  <a:pt x="10597990" y="300792"/>
                </a:lnTo>
                <a:lnTo>
                  <a:pt x="10610249" y="345573"/>
                </a:lnTo>
                <a:lnTo>
                  <a:pt x="10617799" y="392153"/>
                </a:lnTo>
                <a:lnTo>
                  <a:pt x="10620374" y="440270"/>
                </a:lnTo>
                <a:lnTo>
                  <a:pt x="10620374" y="7313064"/>
                </a:lnTo>
                <a:lnTo>
                  <a:pt x="10617799" y="7361180"/>
                </a:lnTo>
                <a:lnTo>
                  <a:pt x="10610249" y="7407761"/>
                </a:lnTo>
                <a:lnTo>
                  <a:pt x="10597990" y="7452541"/>
                </a:lnTo>
                <a:lnTo>
                  <a:pt x="10581286" y="7495257"/>
                </a:lnTo>
                <a:lnTo>
                  <a:pt x="10560400" y="7535645"/>
                </a:lnTo>
                <a:lnTo>
                  <a:pt x="10535598" y="7573439"/>
                </a:lnTo>
                <a:lnTo>
                  <a:pt x="10507143" y="7608377"/>
                </a:lnTo>
                <a:lnTo>
                  <a:pt x="10475300" y="7640194"/>
                </a:lnTo>
                <a:lnTo>
                  <a:pt x="10440334" y="7668626"/>
                </a:lnTo>
                <a:lnTo>
                  <a:pt x="10402509" y="7693408"/>
                </a:lnTo>
                <a:lnTo>
                  <a:pt x="10362089" y="7714277"/>
                </a:lnTo>
                <a:lnTo>
                  <a:pt x="10319339" y="7730968"/>
                </a:lnTo>
                <a:lnTo>
                  <a:pt x="10274522" y="7743218"/>
                </a:lnTo>
                <a:lnTo>
                  <a:pt x="10227904" y="7750761"/>
                </a:lnTo>
                <a:lnTo>
                  <a:pt x="10179749" y="7753334"/>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176" name="Google Shape;176;p26"/>
          <p:cNvSpPr txBox="1"/>
          <p:nvPr/>
        </p:nvSpPr>
        <p:spPr>
          <a:xfrm>
            <a:off x="3726388" y="810466"/>
            <a:ext cx="5061000" cy="3931200"/>
          </a:xfrm>
          <a:prstGeom prst="rect">
            <a:avLst/>
          </a:prstGeom>
          <a:noFill/>
          <a:ln>
            <a:noFill/>
          </a:ln>
        </p:spPr>
        <p:txBody>
          <a:bodyPr spcFirstLastPara="1" wrap="square" lIns="45725" tIns="22850" rIns="45725" bIns="22850" anchor="t" anchorCtr="0">
            <a:noAutofit/>
          </a:bodyPr>
          <a:lstStyle/>
          <a:p>
            <a:pPr marL="0" marR="0" lvl="0" indent="0" algn="l" rtl="0">
              <a:lnSpc>
                <a:spcPct val="115000"/>
              </a:lnSpc>
              <a:spcBef>
                <a:spcPts val="1000"/>
              </a:spcBef>
              <a:spcAft>
                <a:spcPts val="0"/>
              </a:spcAft>
              <a:buClr>
                <a:srgbClr val="000000"/>
              </a:buClr>
              <a:buSzPts val="1000"/>
              <a:buFont typeface="Arial"/>
              <a:buNone/>
            </a:pPr>
            <a:r>
              <a:rPr lang="en" sz="1000" b="0" i="0" u="none" strike="noStrike" cap="none" dirty="0">
                <a:solidFill>
                  <a:srgbClr val="21299A"/>
                </a:solidFill>
                <a:latin typeface="IBM Plex Sans"/>
                <a:ea typeface="IBM Plex Sans"/>
                <a:cs typeface="IBM Plex Sans"/>
                <a:sym typeface="IBM Plex Sans"/>
              </a:rPr>
              <a:t>Social Impact:</a:t>
            </a:r>
          </a:p>
          <a:p>
            <a:pPr marL="171450" indent="-171450">
              <a:buFont typeface="Arial" panose="020B0604020202020204" pitchFamily="34" charset="0"/>
              <a:buChar char="•"/>
            </a:pPr>
            <a:r>
              <a:rPr lang="en-US" sz="1000" dirty="0"/>
              <a:t>Faster issue resolution improves customer satisfaction</a:t>
            </a:r>
          </a:p>
          <a:p>
            <a:pPr marL="171450" indent="-171450">
              <a:buFont typeface="Arial" panose="020B0604020202020204" pitchFamily="34" charset="0"/>
              <a:buChar char="•"/>
            </a:pPr>
            <a:r>
              <a:rPr lang="en-US" sz="1000" dirty="0"/>
              <a:t>Reduces frustration caused by delayed support</a:t>
            </a:r>
          </a:p>
          <a:p>
            <a:pPr marL="171450" indent="-171450">
              <a:buFont typeface="Arial" panose="020B0604020202020204" pitchFamily="34" charset="0"/>
              <a:buChar char="•"/>
            </a:pPr>
            <a:r>
              <a:rPr lang="en-US" sz="1000" dirty="0"/>
              <a:t>Promotes reliable and accessible customer service</a:t>
            </a:r>
          </a:p>
          <a:p>
            <a:pPr marL="171450" indent="-171450">
              <a:buFont typeface="Arial" panose="020B0604020202020204" pitchFamily="34" charset="0"/>
              <a:buChar char="•"/>
            </a:pPr>
            <a:r>
              <a:rPr lang="en-US" sz="1000" dirty="0"/>
              <a:t>Builds trust between businesses and customers</a:t>
            </a:r>
            <a:endParaRPr sz="1000" b="0" i="0" u="none" strike="noStrike" cap="none" dirty="0">
              <a:solidFill>
                <a:srgbClr val="000000"/>
              </a:solidFill>
              <a:latin typeface="IBM Plex Sans"/>
              <a:ea typeface="IBM Plex Sans"/>
              <a:cs typeface="IBM Plex Sans"/>
              <a:sym typeface="IBM Plex Sans"/>
            </a:endParaRPr>
          </a:p>
          <a:p>
            <a:pPr marL="25400" marR="0" lvl="0" indent="0" algn="l" rtl="0">
              <a:lnSpc>
                <a:spcPct val="115000"/>
              </a:lnSpc>
              <a:spcBef>
                <a:spcPts val="1000"/>
              </a:spcBef>
              <a:spcAft>
                <a:spcPts val="0"/>
              </a:spcAft>
              <a:buClr>
                <a:srgbClr val="000000"/>
              </a:buClr>
              <a:buSzPts val="1000"/>
              <a:buFont typeface="Arial"/>
              <a:buNone/>
            </a:pPr>
            <a:r>
              <a:rPr lang="en" sz="1000" b="0" i="0" u="none" strike="noStrike" cap="none" dirty="0">
                <a:solidFill>
                  <a:srgbClr val="21299A"/>
                </a:solidFill>
                <a:latin typeface="IBM Plex Sans"/>
                <a:ea typeface="IBM Plex Sans"/>
                <a:cs typeface="IBM Plex Sans"/>
                <a:sym typeface="IBM Plex Sans"/>
              </a:rPr>
              <a:t>Business Model/Impact:</a:t>
            </a:r>
            <a:endParaRPr lang="en" sz="1000" b="1" dirty="0">
              <a:latin typeface="IBM Plex Sans"/>
              <a:ea typeface="IBM Plex Sans"/>
              <a:cs typeface="IBM Plex Sans"/>
              <a:sym typeface="IBM Plex Sans"/>
            </a:endParaRPr>
          </a:p>
          <a:p>
            <a:pPr marL="196850" lvl="0" indent="-171450">
              <a:lnSpc>
                <a:spcPct val="115000"/>
              </a:lnSpc>
              <a:spcBef>
                <a:spcPts val="1000"/>
              </a:spcBef>
              <a:buSzPts val="1000"/>
              <a:buFont typeface="Arial" panose="020B0604020202020204" pitchFamily="34" charset="0"/>
              <a:buChar char="•"/>
            </a:pPr>
            <a:r>
              <a:rPr lang="en-IN" sz="1100" dirty="0"/>
              <a:t>Increased agent productivity</a:t>
            </a:r>
          </a:p>
          <a:p>
            <a:pPr marL="196850" lvl="0" indent="-171450">
              <a:lnSpc>
                <a:spcPct val="115000"/>
              </a:lnSpc>
              <a:spcBef>
                <a:spcPts val="1000"/>
              </a:spcBef>
              <a:buSzPts val="1000"/>
              <a:buFont typeface="Arial" panose="020B0604020202020204" pitchFamily="34" charset="0"/>
              <a:buChar char="•"/>
            </a:pPr>
            <a:r>
              <a:rPr lang="en-IN" sz="1100" dirty="0"/>
              <a:t>Reduced operational support costs</a:t>
            </a:r>
          </a:p>
          <a:p>
            <a:pPr marL="196850" lvl="0" indent="-171450">
              <a:lnSpc>
                <a:spcPct val="115000"/>
              </a:lnSpc>
              <a:spcBef>
                <a:spcPts val="1000"/>
              </a:spcBef>
              <a:buSzPts val="1000"/>
              <a:buFont typeface="Arial" panose="020B0604020202020204" pitchFamily="34" charset="0"/>
              <a:buChar char="•"/>
            </a:pPr>
            <a:r>
              <a:rPr lang="en-IN" sz="1100" dirty="0"/>
              <a:t>Improved SLA compliance</a:t>
            </a:r>
          </a:p>
          <a:p>
            <a:pPr marL="196850" lvl="0" indent="-171450">
              <a:lnSpc>
                <a:spcPct val="115000"/>
              </a:lnSpc>
              <a:spcBef>
                <a:spcPts val="1000"/>
              </a:spcBef>
              <a:buSzPts val="1000"/>
              <a:buFont typeface="Arial" panose="020B0604020202020204" pitchFamily="34" charset="0"/>
              <a:buChar char="•"/>
            </a:pPr>
            <a:r>
              <a:rPr lang="en-US" sz="1100" dirty="0"/>
              <a:t>Better customer retention and loyalty</a:t>
            </a:r>
            <a:endParaRPr sz="1100" b="0" i="0" u="none" strike="noStrike" cap="none" dirty="0">
              <a:solidFill>
                <a:srgbClr val="000000"/>
              </a:solidFill>
              <a:latin typeface="Calibri"/>
              <a:ea typeface="Calibri"/>
              <a:cs typeface="Calibri"/>
              <a:sym typeface="Calibri"/>
            </a:endParaRPr>
          </a:p>
          <a:p>
            <a:pPr marL="0" marR="0" lvl="0" indent="0" algn="l" rtl="0">
              <a:lnSpc>
                <a:spcPct val="90000"/>
              </a:lnSpc>
              <a:spcBef>
                <a:spcPts val="1000"/>
              </a:spcBef>
              <a:spcAft>
                <a:spcPts val="0"/>
              </a:spcAft>
              <a:buClr>
                <a:srgbClr val="000000"/>
              </a:buClr>
              <a:buSzPts val="1000"/>
              <a:buFont typeface="Arial"/>
              <a:buNone/>
            </a:pPr>
            <a:r>
              <a:rPr lang="en" sz="1000" b="0" i="0" u="none" strike="noStrike" cap="none" dirty="0">
                <a:solidFill>
                  <a:srgbClr val="21299A"/>
                </a:solidFill>
                <a:latin typeface="IBM Plex Sans"/>
                <a:ea typeface="IBM Plex Sans"/>
                <a:cs typeface="IBM Plex Sans"/>
                <a:sym typeface="IBM Plex Sans"/>
              </a:rPr>
              <a:t>Recommended Technology Stack: </a:t>
            </a:r>
          </a:p>
          <a:p>
            <a:pPr lvl="0">
              <a:lnSpc>
                <a:spcPct val="90000"/>
              </a:lnSpc>
              <a:spcBef>
                <a:spcPts val="1000"/>
              </a:spcBef>
              <a:buSzPts val="1000"/>
            </a:pPr>
            <a:r>
              <a:rPr lang="en-IN" sz="1000" dirty="0"/>
              <a:t>Salesforce CRM (Admin &amp; Automation)</a:t>
            </a:r>
          </a:p>
          <a:p>
            <a:pPr lvl="0">
              <a:lnSpc>
                <a:spcPct val="90000"/>
              </a:lnSpc>
              <a:spcBef>
                <a:spcPts val="1000"/>
              </a:spcBef>
              <a:buSzPts val="1000"/>
            </a:pPr>
            <a:r>
              <a:rPr lang="en-IN" sz="1000" dirty="0"/>
              <a:t>Record-Triggered Flows</a:t>
            </a:r>
          </a:p>
          <a:p>
            <a:pPr lvl="0">
              <a:lnSpc>
                <a:spcPct val="90000"/>
              </a:lnSpc>
              <a:spcBef>
                <a:spcPts val="1000"/>
              </a:spcBef>
              <a:buSzPts val="1000"/>
            </a:pPr>
            <a:r>
              <a:rPr lang="en-IN" sz="1000" dirty="0"/>
              <a:t>Reports &amp; Dashboards</a:t>
            </a:r>
          </a:p>
          <a:p>
            <a:pPr lvl="0">
              <a:lnSpc>
                <a:spcPct val="90000"/>
              </a:lnSpc>
              <a:spcBef>
                <a:spcPts val="1000"/>
              </a:spcBef>
              <a:buSzPts val="1000"/>
            </a:pPr>
            <a:r>
              <a:rPr lang="en-IN" sz="1000" dirty="0"/>
              <a:t>Agentforce AI / Einstein Features</a:t>
            </a:r>
          </a:p>
          <a:p>
            <a:pPr lvl="0">
              <a:lnSpc>
                <a:spcPct val="90000"/>
              </a:lnSpc>
              <a:spcBef>
                <a:spcPts val="1000"/>
              </a:spcBef>
              <a:buSzPts val="1000"/>
            </a:pPr>
            <a:r>
              <a:rPr lang="en-IN" sz="1000" dirty="0"/>
              <a:t>Custom Objects &amp; Security Model</a:t>
            </a:r>
            <a:endParaRPr sz="1000" b="1" i="0" u="none" strike="noStrike" cap="none" dirty="0">
              <a:solidFill>
                <a:srgbClr val="000000"/>
              </a:solidFill>
              <a:latin typeface="IBM Plex Sans"/>
              <a:ea typeface="IBM Plex Sans"/>
              <a:cs typeface="IBM Plex Sans"/>
              <a:sym typeface="IBM Plex Sans"/>
            </a:endParaRPr>
          </a:p>
          <a:p>
            <a:pPr marL="457200" marR="0" lvl="0" indent="0" algn="l" rtl="0">
              <a:lnSpc>
                <a:spcPct val="90000"/>
              </a:lnSpc>
              <a:spcBef>
                <a:spcPts val="1000"/>
              </a:spcBef>
              <a:spcAft>
                <a:spcPts val="0"/>
              </a:spcAft>
              <a:buNone/>
            </a:pPr>
            <a:endParaRPr sz="1000" dirty="0">
              <a:solidFill>
                <a:srgbClr val="2E75B5"/>
              </a:solidFill>
              <a:latin typeface="IBM Plex Sans"/>
              <a:ea typeface="IBM Plex Sans"/>
              <a:cs typeface="IBM Plex Sans"/>
              <a:sym typeface="IBM Plex Sans"/>
            </a:endParaRPr>
          </a:p>
          <a:p>
            <a:pPr marL="0" marR="0" lvl="0" indent="0" algn="l" rtl="0">
              <a:lnSpc>
                <a:spcPct val="100000"/>
              </a:lnSpc>
              <a:spcBef>
                <a:spcPts val="1400"/>
              </a:spcBef>
              <a:spcAft>
                <a:spcPts val="0"/>
              </a:spcAft>
              <a:buClr>
                <a:srgbClr val="000000"/>
              </a:buClr>
              <a:buSzPts val="600"/>
              <a:buFont typeface="Arial"/>
              <a:buNone/>
            </a:pPr>
            <a:endParaRPr sz="600" b="1" i="0" u="none" strike="noStrike" cap="none" dirty="0">
              <a:solidFill>
                <a:srgbClr val="2129A5"/>
              </a:solidFill>
              <a:highlight>
                <a:srgbClr val="F1F1F1"/>
              </a:highlight>
              <a:latin typeface="IBM Plex Sans"/>
              <a:ea typeface="IBM Plex Sans"/>
              <a:cs typeface="IBM Plex Sans"/>
              <a:sym typeface="IBM Plex Sans"/>
            </a:endParaRPr>
          </a:p>
          <a:p>
            <a:pPr marL="0" marR="0" lvl="0" indent="0" algn="l" rtl="0">
              <a:lnSpc>
                <a:spcPct val="115000"/>
              </a:lnSpc>
              <a:spcBef>
                <a:spcPts val="400"/>
              </a:spcBef>
              <a:spcAft>
                <a:spcPts val="0"/>
              </a:spcAft>
              <a:buClr>
                <a:schemeClr val="dk1"/>
              </a:buClr>
              <a:buSzPts val="800"/>
              <a:buFont typeface="Arial"/>
              <a:buNone/>
            </a:pPr>
            <a:endParaRPr sz="1000" b="0" i="0" u="none" strike="noStrike" cap="none" dirty="0">
              <a:solidFill>
                <a:srgbClr val="374151"/>
              </a:solidFill>
              <a:highlight>
                <a:schemeClr val="lt2"/>
              </a:highlight>
              <a:latin typeface="Roboto"/>
              <a:ea typeface="Roboto"/>
              <a:cs typeface="Roboto"/>
              <a:sym typeface="Roboto"/>
            </a:endParaRPr>
          </a:p>
          <a:p>
            <a:pPr marL="0" marR="0" lvl="0" indent="0" algn="l" rtl="0">
              <a:lnSpc>
                <a:spcPct val="115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chemeClr val="dk1"/>
              </a:buClr>
              <a:buSzPts val="800"/>
              <a:buFont typeface="Arial"/>
              <a:buNone/>
            </a:pPr>
            <a:endParaRPr sz="1000" b="0" i="0" u="none" strike="noStrike" cap="none" dirty="0">
              <a:solidFill>
                <a:schemeClr val="dk1"/>
              </a:solidFill>
              <a:highlight>
                <a:schemeClr val="lt2"/>
              </a:highlight>
              <a:latin typeface="IBM Plex Sans"/>
              <a:ea typeface="IBM Plex Sans"/>
              <a:cs typeface="IBM Plex Sans"/>
              <a:sym typeface="IBM Plex Sans"/>
            </a:endParaRPr>
          </a:p>
          <a:p>
            <a:pPr marL="0" marR="0" lvl="0" indent="0" algn="l" rtl="0">
              <a:lnSpc>
                <a:spcPct val="115000"/>
              </a:lnSpc>
              <a:spcBef>
                <a:spcPts val="0"/>
              </a:spcBef>
              <a:spcAft>
                <a:spcPts val="0"/>
              </a:spcAft>
              <a:buClr>
                <a:srgbClr val="000000"/>
              </a:buClr>
              <a:buSzPts val="1000"/>
              <a:buFont typeface="Arial"/>
              <a:buNone/>
            </a:pPr>
            <a:endParaRPr sz="1000" b="0" i="0" u="none" strike="noStrike" cap="none" dirty="0">
              <a:solidFill>
                <a:srgbClr val="374151"/>
              </a:solidFill>
              <a:highlight>
                <a:schemeClr val="lt2"/>
              </a:highlight>
              <a:latin typeface="IBM Plex Sans"/>
              <a:ea typeface="IBM Plex Sans"/>
              <a:cs typeface="IBM Plex Sans"/>
              <a:sym typeface="IBM Plex Sans"/>
            </a:endParaRPr>
          </a:p>
          <a:p>
            <a:pPr marL="114300" marR="0" lvl="0" indent="-50800" algn="l" rtl="0">
              <a:lnSpc>
                <a:spcPct val="90000"/>
              </a:lnSpc>
              <a:spcBef>
                <a:spcPts val="1100"/>
              </a:spcBef>
              <a:spcAft>
                <a:spcPts val="0"/>
              </a:spcAft>
              <a:buClr>
                <a:srgbClr val="000000"/>
              </a:buClr>
              <a:buSzPts val="1000"/>
              <a:buFont typeface="Arial"/>
              <a:buNone/>
            </a:pPr>
            <a:endParaRPr sz="1000" b="0" i="0" u="none" strike="noStrike" cap="none" dirty="0">
              <a:solidFill>
                <a:srgbClr val="000000"/>
              </a:solidFill>
              <a:highlight>
                <a:schemeClr val="lt2"/>
              </a:highlight>
              <a:latin typeface="IBM Plex Sans"/>
              <a:ea typeface="IBM Plex Sans"/>
              <a:cs typeface="IBM Plex Sans"/>
              <a:sym typeface="IBM Plex Sans"/>
            </a:endParaRPr>
          </a:p>
        </p:txBody>
      </p:sp>
      <p:sp>
        <p:nvSpPr>
          <p:cNvPr id="177" name="Google Shape;177;p26"/>
          <p:cNvSpPr txBox="1"/>
          <p:nvPr/>
        </p:nvSpPr>
        <p:spPr>
          <a:xfrm>
            <a:off x="227075" y="706813"/>
            <a:ext cx="2590800" cy="2588411"/>
          </a:xfrm>
          <a:prstGeom prst="rect">
            <a:avLst/>
          </a:prstGeom>
          <a:noFill/>
          <a:ln>
            <a:noFill/>
          </a:ln>
        </p:spPr>
        <p:txBody>
          <a:bodyPr spcFirstLastPara="1" wrap="square" lIns="45725" tIns="45725" rIns="45725" bIns="45725"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21299A"/>
                </a:solidFill>
                <a:latin typeface="IBM Plex Sans"/>
                <a:ea typeface="IBM Plex Sans"/>
                <a:cs typeface="IBM Plex Sans"/>
                <a:sym typeface="IBM Plex Sans"/>
              </a:rPr>
              <a:t>Use-Case - 5: </a:t>
            </a:r>
          </a:p>
          <a:p>
            <a:pPr marL="0" marR="0" lvl="0" indent="0" algn="l" rtl="0">
              <a:lnSpc>
                <a:spcPct val="90000"/>
              </a:lnSpc>
              <a:spcBef>
                <a:spcPts val="0"/>
              </a:spcBef>
              <a:spcAft>
                <a:spcPts val="0"/>
              </a:spcAft>
              <a:buClr>
                <a:srgbClr val="000000"/>
              </a:buClr>
              <a:buSzPts val="2000"/>
              <a:buFont typeface="Arial"/>
              <a:buNone/>
            </a:pPr>
            <a:endParaRPr lang="en" sz="2000" dirty="0">
              <a:solidFill>
                <a:srgbClr val="21299A"/>
              </a:solidFill>
              <a:latin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chemeClr val="dk1"/>
                </a:solidFill>
                <a:latin typeface="Arial"/>
                <a:ea typeface="Arial"/>
                <a:cs typeface="Arial"/>
                <a:sym typeface="Arial"/>
              </a:rPr>
              <a:t>Ai- Powered Customer Support Ticketing System</a:t>
            </a:r>
            <a:endParaRPr sz="20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2000"/>
              <a:buFont typeface="Arial"/>
              <a:buNone/>
            </a:pPr>
            <a:endParaRPr sz="2000" b="0" i="0" u="none" strike="noStrike" cap="none" dirty="0">
              <a:solidFill>
                <a:srgbClr val="21299A"/>
              </a:solidFill>
              <a:latin typeface="IBM Plex Sans"/>
              <a:ea typeface="IBM Plex Sans"/>
              <a:cs typeface="IBM Plex Sans"/>
              <a:sym typeface="IBM Plex Sans"/>
            </a:endParaRPr>
          </a:p>
          <a:p>
            <a:pPr marL="0" marR="0" lvl="0" indent="0" algn="l" rtl="0">
              <a:lnSpc>
                <a:spcPct val="90000"/>
              </a:lnSpc>
              <a:spcBef>
                <a:spcPts val="0"/>
              </a:spcBef>
              <a:spcAft>
                <a:spcPts val="0"/>
              </a:spcAft>
              <a:buClr>
                <a:srgbClr val="000000"/>
              </a:buClr>
              <a:buSzPts val="1800"/>
              <a:buFont typeface="Arial"/>
              <a:buNone/>
            </a:pPr>
            <a:endParaRPr sz="1800" b="0" i="0" u="none" strike="noStrike" cap="none" dirty="0">
              <a:solidFill>
                <a:srgbClr val="21299A"/>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21299A"/>
              </a:solidFill>
              <a:latin typeface="IBM Plex Sans"/>
              <a:ea typeface="IBM Plex Sans"/>
              <a:cs typeface="IBM Plex Sans"/>
              <a:sym typeface="IBM Plex Sans"/>
            </a:endParaRPr>
          </a:p>
        </p:txBody>
      </p:sp>
      <p:sp>
        <p:nvSpPr>
          <p:cNvPr id="178" name="Google Shape;178;p26"/>
          <p:cNvSpPr txBox="1"/>
          <p:nvPr/>
        </p:nvSpPr>
        <p:spPr>
          <a:xfrm>
            <a:off x="514350" y="4741666"/>
            <a:ext cx="24591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r>
              <a:rPr lang="en" sz="1200" b="1" i="0" u="none" strike="noStrike" cap="none">
                <a:solidFill>
                  <a:srgbClr val="21295C"/>
                </a:solidFill>
                <a:latin typeface="Montserrat"/>
                <a:ea typeface="Montserrat"/>
                <a:cs typeface="Montserrat"/>
                <a:sym typeface="Montserrat"/>
              </a:rPr>
              <a:t>SMARTBRIDGE</a:t>
            </a:r>
            <a:endParaRPr sz="700" b="0" i="0" u="none" strike="noStrike" cap="none">
              <a:solidFill>
                <a:srgbClr val="000000"/>
              </a:solidFill>
              <a:latin typeface="Arial"/>
              <a:ea typeface="Arial"/>
              <a:cs typeface="Arial"/>
              <a:sym typeface="Arial"/>
            </a:endParaRPr>
          </a:p>
        </p:txBody>
      </p:sp>
      <p:sp>
        <p:nvSpPr>
          <p:cNvPr id="179" name="Google Shape;179;p26"/>
          <p:cNvSpPr txBox="1"/>
          <p:nvPr/>
        </p:nvSpPr>
        <p:spPr>
          <a:xfrm>
            <a:off x="8491727" y="4741666"/>
            <a:ext cx="276000" cy="184800"/>
          </a:xfrm>
          <a:prstGeom prst="rect">
            <a:avLst/>
          </a:prstGeom>
          <a:noFill/>
          <a:ln>
            <a:noFill/>
          </a:ln>
        </p:spPr>
        <p:txBody>
          <a:bodyPr spcFirstLastPara="1" wrap="square" lIns="0" tIns="0" rIns="0" bIns="0" anchor="t" anchorCtr="0">
            <a:spAutoFit/>
          </a:bodyPr>
          <a:lstStyle/>
          <a:p>
            <a:pPr marL="0" marR="0" lvl="0" indent="0" algn="l" rtl="0">
              <a:lnSpc>
                <a:spcPct val="120033"/>
              </a:lnSpc>
              <a:spcBef>
                <a:spcPts val="0"/>
              </a:spcBef>
              <a:spcAft>
                <a:spcPts val="0"/>
              </a:spcAft>
              <a:buClr>
                <a:srgbClr val="000000"/>
              </a:buClr>
              <a:buSzPts val="1200"/>
              <a:buFont typeface="Arial"/>
              <a:buNone/>
            </a:pPr>
            <a:endParaRPr sz="1200" b="1" i="0" u="none" strike="noStrike" cap="none">
              <a:solidFill>
                <a:srgbClr val="21295C"/>
              </a:solidFill>
              <a:latin typeface="Montserrat"/>
              <a:ea typeface="Montserrat"/>
              <a:cs typeface="Montserrat"/>
              <a:sym typeface="Montserrat"/>
            </a:endParaRPr>
          </a:p>
        </p:txBody>
      </p:sp>
      <p:sp>
        <p:nvSpPr>
          <p:cNvPr id="181" name="Google Shape;181;p26"/>
          <p:cNvSpPr/>
          <p:nvPr/>
        </p:nvSpPr>
        <p:spPr>
          <a:xfrm>
            <a:off x="7406775" y="0"/>
            <a:ext cx="1737224" cy="712855"/>
          </a:xfrm>
          <a:custGeom>
            <a:avLst/>
            <a:gdLst/>
            <a:ahLst/>
            <a:cxnLst/>
            <a:rect l="l" t="t" r="r" b="b"/>
            <a:pathLst>
              <a:path w="2790721" h="1168614" extrusionOk="0">
                <a:moveTo>
                  <a:pt x="0" y="0"/>
                </a:moveTo>
                <a:lnTo>
                  <a:pt x="2790721" y="0"/>
                </a:lnTo>
                <a:lnTo>
                  <a:pt x="2790721" y="1168614"/>
                </a:lnTo>
                <a:lnTo>
                  <a:pt x="0" y="1168614"/>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animEffect transition="in" filter="fade">
                                      <p:cBhvr>
                                        <p:cTn id="7" dur="2500"/>
                                        <p:tgtEl>
                                          <p:spTgt spid="1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1" end="1"/>
                                            </p:txEl>
                                          </p:spTgt>
                                        </p:tgtEl>
                                        <p:attrNameLst>
                                          <p:attrName>style.visibility</p:attrName>
                                        </p:attrNameLst>
                                      </p:cBhvr>
                                      <p:to>
                                        <p:strVal val="visible"/>
                                      </p:to>
                                    </p:set>
                                    <p:animEffect transition="in" filter="fade">
                                      <p:cBhvr>
                                        <p:cTn id="12" dur="2500"/>
                                        <p:tgtEl>
                                          <p:spTgt spid="1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6">
                                            <p:txEl>
                                              <p:pRg st="2" end="2"/>
                                            </p:txEl>
                                          </p:spTgt>
                                        </p:tgtEl>
                                        <p:attrNameLst>
                                          <p:attrName>style.visibility</p:attrName>
                                        </p:attrNameLst>
                                      </p:cBhvr>
                                      <p:to>
                                        <p:strVal val="visible"/>
                                      </p:to>
                                    </p:set>
                                    <p:animEffect transition="in" filter="fade">
                                      <p:cBhvr>
                                        <p:cTn id="17" dur="2500"/>
                                        <p:tgtEl>
                                          <p:spTgt spid="1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6">
                                            <p:txEl>
                                              <p:pRg st="3" end="3"/>
                                            </p:txEl>
                                          </p:spTgt>
                                        </p:tgtEl>
                                        <p:attrNameLst>
                                          <p:attrName>style.visibility</p:attrName>
                                        </p:attrNameLst>
                                      </p:cBhvr>
                                      <p:to>
                                        <p:strVal val="visible"/>
                                      </p:to>
                                    </p:set>
                                    <p:animEffect transition="in" filter="fade">
                                      <p:cBhvr>
                                        <p:cTn id="22" dur="2500"/>
                                        <p:tgtEl>
                                          <p:spTgt spid="1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xEl>
                                              <p:pRg st="4" end="4"/>
                                            </p:txEl>
                                          </p:spTgt>
                                        </p:tgtEl>
                                        <p:attrNameLst>
                                          <p:attrName>style.visibility</p:attrName>
                                        </p:attrNameLst>
                                      </p:cBhvr>
                                      <p:to>
                                        <p:strVal val="visible"/>
                                      </p:to>
                                    </p:set>
                                    <p:animEffect transition="in" filter="fade">
                                      <p:cBhvr>
                                        <p:cTn id="27" dur="2500"/>
                                        <p:tgtEl>
                                          <p:spTgt spid="1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6">
                                            <p:txEl>
                                              <p:pRg st="5" end="5"/>
                                            </p:txEl>
                                          </p:spTgt>
                                        </p:tgtEl>
                                        <p:attrNameLst>
                                          <p:attrName>style.visibility</p:attrName>
                                        </p:attrNameLst>
                                      </p:cBhvr>
                                      <p:to>
                                        <p:strVal val="visible"/>
                                      </p:to>
                                    </p:set>
                                    <p:animEffect transition="in" filter="fade">
                                      <p:cBhvr>
                                        <p:cTn id="32" dur="2500"/>
                                        <p:tgtEl>
                                          <p:spTgt spid="1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6">
                                            <p:txEl>
                                              <p:pRg st="6" end="6"/>
                                            </p:txEl>
                                          </p:spTgt>
                                        </p:tgtEl>
                                        <p:attrNameLst>
                                          <p:attrName>style.visibility</p:attrName>
                                        </p:attrNameLst>
                                      </p:cBhvr>
                                      <p:to>
                                        <p:strVal val="visible"/>
                                      </p:to>
                                    </p:set>
                                    <p:animEffect transition="in" filter="fade">
                                      <p:cBhvr>
                                        <p:cTn id="37" dur="2500"/>
                                        <p:tgtEl>
                                          <p:spTgt spid="17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6">
                                            <p:txEl>
                                              <p:pRg st="7" end="7"/>
                                            </p:txEl>
                                          </p:spTgt>
                                        </p:tgtEl>
                                        <p:attrNameLst>
                                          <p:attrName>style.visibility</p:attrName>
                                        </p:attrNameLst>
                                      </p:cBhvr>
                                      <p:to>
                                        <p:strVal val="visible"/>
                                      </p:to>
                                    </p:set>
                                    <p:animEffect transition="in" filter="fade">
                                      <p:cBhvr>
                                        <p:cTn id="42" dur="2500"/>
                                        <p:tgtEl>
                                          <p:spTgt spid="17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6">
                                            <p:txEl>
                                              <p:pRg st="8" end="8"/>
                                            </p:txEl>
                                          </p:spTgt>
                                        </p:tgtEl>
                                        <p:attrNameLst>
                                          <p:attrName>style.visibility</p:attrName>
                                        </p:attrNameLst>
                                      </p:cBhvr>
                                      <p:to>
                                        <p:strVal val="visible"/>
                                      </p:to>
                                    </p:set>
                                    <p:animEffect transition="in" filter="fade">
                                      <p:cBhvr>
                                        <p:cTn id="47" dur="2500"/>
                                        <p:tgtEl>
                                          <p:spTgt spid="17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6">
                                            <p:txEl>
                                              <p:pRg st="9" end="9"/>
                                            </p:txEl>
                                          </p:spTgt>
                                        </p:tgtEl>
                                        <p:attrNameLst>
                                          <p:attrName>style.visibility</p:attrName>
                                        </p:attrNameLst>
                                      </p:cBhvr>
                                      <p:to>
                                        <p:strVal val="visible"/>
                                      </p:to>
                                    </p:set>
                                    <p:animEffect transition="in" filter="fade">
                                      <p:cBhvr>
                                        <p:cTn id="52" dur="2500"/>
                                        <p:tgtEl>
                                          <p:spTgt spid="17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76">
                                            <p:txEl>
                                              <p:pRg st="10" end="10"/>
                                            </p:txEl>
                                          </p:spTgt>
                                        </p:tgtEl>
                                        <p:attrNameLst>
                                          <p:attrName>style.visibility</p:attrName>
                                        </p:attrNameLst>
                                      </p:cBhvr>
                                      <p:to>
                                        <p:strVal val="visible"/>
                                      </p:to>
                                    </p:set>
                                    <p:animEffect transition="in" filter="fade">
                                      <p:cBhvr>
                                        <p:cTn id="57" dur="2500"/>
                                        <p:tgtEl>
                                          <p:spTgt spid="17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76">
                                            <p:txEl>
                                              <p:pRg st="11" end="11"/>
                                            </p:txEl>
                                          </p:spTgt>
                                        </p:tgtEl>
                                        <p:attrNameLst>
                                          <p:attrName>style.visibility</p:attrName>
                                        </p:attrNameLst>
                                      </p:cBhvr>
                                      <p:to>
                                        <p:strVal val="visible"/>
                                      </p:to>
                                    </p:set>
                                    <p:animEffect transition="in" filter="fade">
                                      <p:cBhvr>
                                        <p:cTn id="62" dur="2500"/>
                                        <p:tgtEl>
                                          <p:spTgt spid="17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76">
                                            <p:txEl>
                                              <p:pRg st="12" end="12"/>
                                            </p:txEl>
                                          </p:spTgt>
                                        </p:tgtEl>
                                        <p:attrNameLst>
                                          <p:attrName>style.visibility</p:attrName>
                                        </p:attrNameLst>
                                      </p:cBhvr>
                                      <p:to>
                                        <p:strVal val="visible"/>
                                      </p:to>
                                    </p:set>
                                    <p:animEffect transition="in" filter="fade">
                                      <p:cBhvr>
                                        <p:cTn id="67" dur="2500"/>
                                        <p:tgtEl>
                                          <p:spTgt spid="17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76">
                                            <p:txEl>
                                              <p:pRg st="13" end="13"/>
                                            </p:txEl>
                                          </p:spTgt>
                                        </p:tgtEl>
                                        <p:attrNameLst>
                                          <p:attrName>style.visibility</p:attrName>
                                        </p:attrNameLst>
                                      </p:cBhvr>
                                      <p:to>
                                        <p:strVal val="visible"/>
                                      </p:to>
                                    </p:set>
                                    <p:animEffect transition="in" filter="fade">
                                      <p:cBhvr>
                                        <p:cTn id="72" dur="2500"/>
                                        <p:tgtEl>
                                          <p:spTgt spid="17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76">
                                            <p:txEl>
                                              <p:pRg st="14" end="14"/>
                                            </p:txEl>
                                          </p:spTgt>
                                        </p:tgtEl>
                                        <p:attrNameLst>
                                          <p:attrName>style.visibility</p:attrName>
                                        </p:attrNameLst>
                                      </p:cBhvr>
                                      <p:to>
                                        <p:strVal val="visible"/>
                                      </p:to>
                                    </p:set>
                                    <p:animEffect transition="in" filter="fade">
                                      <p:cBhvr>
                                        <p:cTn id="77" dur="2500"/>
                                        <p:tgtEl>
                                          <p:spTgt spid="176">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76">
                                            <p:txEl>
                                              <p:pRg st="15" end="15"/>
                                            </p:txEl>
                                          </p:spTgt>
                                        </p:tgtEl>
                                        <p:attrNameLst>
                                          <p:attrName>style.visibility</p:attrName>
                                        </p:attrNameLst>
                                      </p:cBhvr>
                                      <p:to>
                                        <p:strVal val="visible"/>
                                      </p:to>
                                    </p:set>
                                    <p:animEffect transition="in" filter="fade">
                                      <p:cBhvr>
                                        <p:cTn id="82" dur="2500"/>
                                        <p:tgtEl>
                                          <p:spTgt spid="17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1091</Words>
  <Application>Microsoft Office PowerPoint</Application>
  <PresentationFormat>On-screen Show (16:9)</PresentationFormat>
  <Paragraphs>155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Montserrat</vt:lpstr>
      <vt:lpstr>Arial</vt:lpstr>
      <vt:lpstr>Roboto</vt:lpstr>
      <vt:lpstr>Calibri</vt:lpstr>
      <vt:lpstr>IBM Plex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Smart Bridge</cp:lastModifiedBy>
  <cp:revision>1</cp:revision>
  <dcterms:modified xsi:type="dcterms:W3CDTF">2026-02-20T06:12:40Z</dcterms:modified>
</cp:coreProperties>
</file>